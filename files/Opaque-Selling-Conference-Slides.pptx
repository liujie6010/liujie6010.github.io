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Cells led</c:f>
              <c:strCache>
                <c:ptCount val="1"/>
                <c:pt idx="0">
                  <c:v>Cells led</c:v>
                </c:pt>
              </c:strCache>
            </c:strRef>
          </c:tx>
          <c:spPr>
            <a:solidFill>
              <a:srgbClr val="2F6FA3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{"N-opaque","Circle","Categorical"}</c:f>
              <c:strCache>
                <c:ptCount val="3"/>
                <c:pt idx="0">
                  <c:v>N-opaque</c:v>
                </c:pt>
                <c:pt idx="1">
                  <c:v>Circle</c:v>
                </c:pt>
                <c:pt idx="2">
                  <c:v>Categorical</c:v>
                </c:pt>
              </c:strCache>
            </c:strRef>
          </c:cat>
          <c:val>
            <c:numRef>
              <c:f>{1,23,3}</c:f>
              <c:numCache>
                <c:formatCode>General</c:formatCode>
                <c:ptCount val="3"/>
                <c:pt idx="0">
                  <c:v>1</c:v>
                </c:pt>
                <c:pt idx="1">
                  <c:v>23</c:v>
                </c:pt>
                <c:pt idx="2">
                  <c:v>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DD2D7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w="9525">
              <a:solidFill>
                <a:srgbClr val="F2F3F2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50112"/>
        <c:crosses val="autoZero"/>
        <c:crossBetween val="between"/>
        <c:majorUnit val="5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5fb199c9-456e-483c-b56e-567756b66255}"/>
      </c:ext>
    </c:extLst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Traditional</c:f>
              <c:strCache>
                <c:ptCount val="1"/>
                <c:pt idx="0">
                  <c:v>Traditional</c:v>
                </c:pt>
              </c:strCache>
            </c:strRef>
          </c:tx>
          <c:spPr>
            <a:solidFill>
              <a:srgbClr val="CDD2D7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{"Uniform","Normal","Logistic"}</c:f>
              <c:strCache>
                <c:ptCount val="3"/>
                <c:pt idx="0">
                  <c:v>Uniform</c:v>
                </c:pt>
                <c:pt idx="1">
                  <c:v>Normal</c:v>
                </c:pt>
                <c:pt idx="2">
                  <c:v>Logistic</c:v>
                </c:pt>
              </c:strCache>
            </c:strRef>
          </c:cat>
          <c:val>
            <c:numRef>
              <c:f>{2.38,2.44,2.87}</c:f>
              <c:numCache>
                <c:formatCode>General</c:formatCode>
                <c:ptCount val="3"/>
                <c:pt idx="0">
                  <c:v>2.38</c:v>
                </c:pt>
                <c:pt idx="1">
                  <c:v>2.44</c:v>
                </c:pt>
                <c:pt idx="2">
                  <c:v>2.87</c:v>
                </c:pt>
              </c:numCache>
            </c:numRef>
          </c:val>
        </c:ser>
        <c:ser>
          <c:idx val="1"/>
          <c:order val="1"/>
          <c:tx>
            <c:strRef>
              <c:f>Design-aware</c:f>
              <c:strCache>
                <c:ptCount val="1"/>
                <c:pt idx="0">
                  <c:v>Design-aware</c:v>
                </c:pt>
              </c:strCache>
            </c:strRef>
          </c:tx>
          <c:spPr>
            <a:solidFill>
              <a:srgbClr val="2F6FA3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{"Uniform","Normal","Logistic"}</c:f>
              <c:strCache>
                <c:ptCount val="3"/>
                <c:pt idx="0">
                  <c:v>Uniform</c:v>
                </c:pt>
                <c:pt idx="1">
                  <c:v>Normal</c:v>
                </c:pt>
                <c:pt idx="2">
                  <c:v>Logistic</c:v>
                </c:pt>
              </c:strCache>
            </c:strRef>
          </c:cat>
          <c:val>
            <c:numRef>
              <c:f>{10.04,9.8,9.54}</c:f>
              <c:numCache>
                <c:formatCode>General</c:formatCode>
                <c:ptCount val="3"/>
                <c:pt idx="0">
                  <c:v>10.04</c:v>
                </c:pt>
                <c:pt idx="1">
                  <c:v>9.8</c:v>
                </c:pt>
                <c:pt idx="2">
                  <c:v>9.54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DD2D7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w="9525">
              <a:solidFill>
                <a:srgbClr val="F2F3F2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50112"/>
        <c:crosses val="autoZero"/>
        <c:crossBetween val="between"/>
        <c:majorUnit val="2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125" b="0" i="0" u="none" strike="noStrike" kern="1200" baseline="0">
              <a:solidFill>
                <a:srgbClr val="17191C"/>
              </a:solidFill>
              <a:latin typeface="Arial" panose="020B0604020202020204"/>
              <a:ea typeface="Arial" panose="020B0604020202020204"/>
              <a:cs typeface="Arial" panose="020B0604020202020204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f69727a-7333-4cda-bfcd-5bb5c225cc14}"/>
      </c:ext>
    </c:extLst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533400" y="428625"/>
            <a:ext cx="4000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20-MINUTE CONFERENCE TALK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20015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510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Opaque Selling on a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92405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510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Bipartite Graph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019425"/>
            <a:ext cx="7810500" cy="4095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Structural Conditions for Inventory Pooling</a:t>
            </a: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552450" y="3733800"/>
            <a:ext cx="11087100" cy="9525"/>
          </a:xfrm>
          <a:prstGeom prst="line">
            <a:avLst/>
          </a:prstGeom>
          <a:noFill/>
          <a:ln w="19050">
            <a:solidFill>
              <a:srgbClr val="17191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4057650"/>
            <a:ext cx="9620250" cy="2952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Jie Liu  ·  Hailun Zhang  ·  Zhenghua Long  ·  Jiheng Zhang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4457700"/>
            <a:ext cx="7239000" cy="2571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Presenter: Jie Liu  ·  Department of IEDA, HKUST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4857750"/>
            <a:ext cx="72390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1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[Conference Name]  ·  [City]  ·  [Date]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5543550"/>
            <a:ext cx="3238500" cy="514350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924300" y="5543550"/>
            <a:ext cx="3238500" cy="514350"/>
          </a:xfrm>
          <a:prstGeom prst="rect">
            <a:avLst/>
          </a:prstGeom>
          <a:solidFill>
            <a:srgbClr val="F2F3F2"/>
          </a:solidFill>
          <a:ln w="0">
            <a:solidFill>
              <a:srgbClr val="F2F3F2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296150" y="5543550"/>
            <a:ext cx="4343400" cy="514350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52450" y="5695950"/>
            <a:ext cx="3238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MENU STRUCTURE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924300" y="5695950"/>
            <a:ext cx="3238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INVENTORY ALLOCATION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296150" y="5695950"/>
            <a:ext cx="43434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LOAD-BALANCED FULFILLMENT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0" y="857250"/>
            <a:ext cx="12192000" cy="5381625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33400" y="1200150"/>
            <a:ext cx="11125200" cy="7429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46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Opaque Selling on a Bipartite Graph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52450" y="2200275"/>
            <a:ext cx="9810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25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Structural Conditions for Inventory Pooling</a:t>
            </a: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552450" y="2895600"/>
            <a:ext cx="11087100" cy="9525"/>
          </a:xfrm>
          <a:prstGeom prst="line">
            <a:avLst/>
          </a:prstGeom>
          <a:noFill/>
          <a:ln w="19050">
            <a:solidFill>
              <a:srgbClr val="17191C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52450" y="3219450"/>
            <a:ext cx="9620250" cy="2952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Jie Liu  ·  Hailun Zhang  ·  Zhenghua Long  ·  Jiheng Zhang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52450" y="3619500"/>
            <a:ext cx="7239000" cy="2571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Presenter: Jie Liu  ·  Department of IEDA, HKUST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52450" y="4019550"/>
            <a:ext cx="7239000" cy="247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1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/>
              <a:t>POMS-CHINA</a:t>
            </a:r>
            <a:r>
              <a:t>  ·  </a:t>
            </a:r>
            <a:r>
              <a:rPr lang="en-US"/>
              <a:t>XI’AN</a:t>
            </a:r>
            <a:r>
              <a:t>  ·  </a:t>
            </a:r>
            <a:r>
              <a:rPr lang="en-US"/>
              <a:t>2026/07/19</a:t>
            </a:r>
            <a:endParaRPr 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5219700"/>
            <a:ext cx="3238500" cy="571500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924300" y="5219700"/>
            <a:ext cx="3238500" cy="571500"/>
          </a:xfrm>
          <a:prstGeom prst="rect">
            <a:avLst/>
          </a:prstGeom>
          <a:solidFill>
            <a:srgbClr val="F2F3F2"/>
          </a:solidFill>
          <a:ln w="0">
            <a:solidFill>
              <a:srgbClr val="F2F3F2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296150" y="5219700"/>
            <a:ext cx="4343400" cy="571500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52450" y="5400675"/>
            <a:ext cx="32385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MENU STRUCTURE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924300" y="5400675"/>
            <a:ext cx="32385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INVENTORY ALLOCATION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296150" y="5400675"/>
            <a:ext cx="43434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LOAD-BALANCED FULFILLMENT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02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47775"/>
            <a:ext cx="5124450" cy="414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00750" y="1247775"/>
            <a:ext cx="5657850" cy="4143375"/>
          </a:xfrm>
          <a:prstGeom prst="rect">
            <a:avLst/>
          </a:prstGeom>
          <a:solidFill>
            <a:srgbClr val="EAF2F7"/>
          </a:solidFill>
          <a:ln w="9525">
            <a:solidFill>
              <a:srgbClr val="2F6FA3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457325"/>
            <a:ext cx="2095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TRADITIONAL SELLING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790700"/>
            <a:ext cx="4286250" cy="2952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customer selects the exact variant.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305050"/>
            <a:ext cx="2857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REMAINING STOCK AT FIRST STOCKOUT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48400" y="1457325"/>
            <a:ext cx="2095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OPAQUE SELLING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48400" y="1790700"/>
            <a:ext cx="4762500" cy="295275"/>
          </a:xfrm>
          <a:prstGeom prst="rect">
            <a:avLst/>
          </a:prstGeom>
        </p:spPr>
        <p:txBody>
          <a:bodyPr wrap="square" lIns="0" tIns="0" rIns="0" bIns="0" anchor="t">
            <a:normAutofit fontScale="98131"/>
          </a:bodyPr>
          <a:lstStyle/>
          <a:p>
            <a:pPr algn="l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secondary attribute is revealed after purchase.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48400" y="2305050"/>
            <a:ext cx="2952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REMAINING STOCK AT FIRST STOCKOUT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2762250"/>
            <a:ext cx="6858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item 1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524000" y="2781300"/>
            <a:ext cx="3048000" cy="161925"/>
          </a:xfrm>
          <a:prstGeom prst="rect">
            <a:avLst/>
          </a:prstGeom>
          <a:solidFill>
            <a:srgbClr val="F2F3F2"/>
          </a:solidFill>
          <a:ln w="0">
            <a:solidFill>
              <a:srgbClr val="F2F3F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524000" y="2781300"/>
            <a:ext cx="47625" cy="161925"/>
          </a:xfrm>
          <a:prstGeom prst="rect">
            <a:avLst/>
          </a:prstGeom>
          <a:solidFill>
            <a:srgbClr val="B7791F"/>
          </a:solidFill>
          <a:ln w="0">
            <a:solidFill>
              <a:srgbClr val="B7791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248400" y="2762250"/>
            <a:ext cx="6858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item 1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991350" y="2781300"/>
            <a:ext cx="3048000" cy="1619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991350" y="2781300"/>
            <a:ext cx="47625" cy="161925"/>
          </a:xfrm>
          <a:prstGeom prst="rect">
            <a:avLst/>
          </a:prstGeom>
          <a:solidFill>
            <a:srgbClr val="B7791F"/>
          </a:solidFill>
          <a:ln w="0">
            <a:solidFill>
              <a:srgbClr val="B7791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3200400"/>
            <a:ext cx="6858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item 2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24000" y="3219450"/>
            <a:ext cx="3048000" cy="161925"/>
          </a:xfrm>
          <a:prstGeom prst="rect">
            <a:avLst/>
          </a:prstGeom>
          <a:solidFill>
            <a:srgbClr val="F2F3F2"/>
          </a:solidFill>
          <a:ln w="0">
            <a:solidFill>
              <a:srgbClr val="F2F3F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524000" y="3219450"/>
            <a:ext cx="685800" cy="161925"/>
          </a:xfrm>
          <a:prstGeom prst="rect">
            <a:avLst/>
          </a:prstGeom>
          <a:solidFill>
            <a:srgbClr val="CDD2D7"/>
          </a:solidFill>
          <a:ln w="0">
            <a:solidFill>
              <a:srgbClr val="CDD2D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248400" y="3200400"/>
            <a:ext cx="6858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item 2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991350" y="3219450"/>
            <a:ext cx="3048000" cy="1619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991350" y="3219450"/>
            <a:ext cx="228600" cy="161925"/>
          </a:xfrm>
          <a:prstGeom prst="rect">
            <a:avLst/>
          </a:prstGeom>
          <a:solidFill>
            <a:srgbClr val="2F6FA3"/>
          </a:solidFill>
          <a:ln w="0">
            <a:solidFill>
              <a:srgbClr val="2F6FA3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81050" y="3638550"/>
            <a:ext cx="6858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item 3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524000" y="3657600"/>
            <a:ext cx="3048000" cy="161925"/>
          </a:xfrm>
          <a:prstGeom prst="rect">
            <a:avLst/>
          </a:prstGeom>
          <a:solidFill>
            <a:srgbClr val="F2F3F2"/>
          </a:solidFill>
          <a:ln w="0">
            <a:solidFill>
              <a:srgbClr val="F2F3F2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524000" y="3657600"/>
            <a:ext cx="1457325" cy="161925"/>
          </a:xfrm>
          <a:prstGeom prst="rect">
            <a:avLst/>
          </a:prstGeom>
          <a:solidFill>
            <a:srgbClr val="CDD2D7"/>
          </a:solidFill>
          <a:ln w="0">
            <a:solidFill>
              <a:srgbClr val="CDD2D7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248400" y="3638550"/>
            <a:ext cx="6858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item 3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991350" y="3657600"/>
            <a:ext cx="3048000" cy="1619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991350" y="3657600"/>
            <a:ext cx="342900" cy="161925"/>
          </a:xfrm>
          <a:prstGeom prst="rect">
            <a:avLst/>
          </a:prstGeom>
          <a:solidFill>
            <a:srgbClr val="2F6FA3"/>
          </a:solidFill>
          <a:ln w="0">
            <a:solidFill>
              <a:srgbClr val="2F6FA3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81050" y="4076700"/>
            <a:ext cx="6858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item 4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524000" y="4095750"/>
            <a:ext cx="3048000" cy="161925"/>
          </a:xfrm>
          <a:prstGeom prst="rect">
            <a:avLst/>
          </a:prstGeom>
          <a:solidFill>
            <a:srgbClr val="F2F3F2"/>
          </a:solidFill>
          <a:ln w="0">
            <a:solidFill>
              <a:srgbClr val="F2F3F2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524000" y="4095750"/>
            <a:ext cx="2209800" cy="161925"/>
          </a:xfrm>
          <a:prstGeom prst="rect">
            <a:avLst/>
          </a:prstGeom>
          <a:solidFill>
            <a:srgbClr val="CDD2D7"/>
          </a:solidFill>
          <a:ln w="0">
            <a:solidFill>
              <a:srgbClr val="CDD2D7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248400" y="4076700"/>
            <a:ext cx="6858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item 4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991350" y="4095750"/>
            <a:ext cx="3048000" cy="1619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991350" y="4095750"/>
            <a:ext cx="428625" cy="161925"/>
          </a:xfrm>
          <a:prstGeom prst="rect">
            <a:avLst/>
          </a:prstGeom>
          <a:solidFill>
            <a:srgbClr val="2F6FA3"/>
          </a:solidFill>
          <a:ln w="0">
            <a:solidFill>
              <a:srgbClr val="2F6FA3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81050" y="4514850"/>
            <a:ext cx="6858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item 5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524000" y="4533900"/>
            <a:ext cx="3048000" cy="161925"/>
          </a:xfrm>
          <a:prstGeom prst="rect">
            <a:avLst/>
          </a:prstGeom>
          <a:solidFill>
            <a:srgbClr val="F2F3F2"/>
          </a:solidFill>
          <a:ln w="0">
            <a:solidFill>
              <a:srgbClr val="F2F3F2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524000" y="4533900"/>
            <a:ext cx="2857500" cy="161925"/>
          </a:xfrm>
          <a:prstGeom prst="rect">
            <a:avLst/>
          </a:prstGeom>
          <a:solidFill>
            <a:srgbClr val="CDD2D7"/>
          </a:solidFill>
          <a:ln w="0">
            <a:solidFill>
              <a:srgbClr val="CDD2D7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248400" y="4514850"/>
            <a:ext cx="6858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item 5</a:t>
            </a: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991350" y="4533900"/>
            <a:ext cx="3048000" cy="1619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991350" y="4533900"/>
            <a:ext cx="276225" cy="161925"/>
          </a:xfrm>
          <a:prstGeom prst="rect">
            <a:avLst/>
          </a:prstGeom>
          <a:solidFill>
            <a:srgbClr val="2F6FA3"/>
          </a:solidFill>
          <a:ln w="0">
            <a:solidFill>
              <a:srgbClr val="2F6FA3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81050" y="4953000"/>
            <a:ext cx="4333875" cy="2952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popular variant stocks out while slow movers remain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248400" y="4953000"/>
            <a:ext cx="4810125" cy="2952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flexible orders absorb slow stock and align depletion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33400" y="5600700"/>
            <a:ext cx="11125200" cy="552450"/>
          </a:xfrm>
          <a:prstGeom prst="rect">
            <a:avLst/>
          </a:prstGeom>
          <a:solidFill>
            <a:srgbClr val="2F6FA3"/>
          </a:solidFill>
          <a:ln w="0">
            <a:solidFill>
              <a:srgbClr val="2F6FA3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723900" y="5743575"/>
            <a:ext cx="107442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Pooling delays the first stockout, lengthens the cycle, and reduces leftover inventory.</a:t>
            </a: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Opaque selling pools imbalanced variant demand</a:t>
            </a:r>
          </a:p>
        </p:txBody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03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57300"/>
            <a:ext cx="1809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OBSERVED PRACTICE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609725"/>
            <a:ext cx="619125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219950" y="1257300"/>
            <a:ext cx="2667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WHAT CHANGES OPERATIONALLY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19950" y="1704975"/>
            <a:ext cx="381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734300" y="1724025"/>
            <a:ext cx="3429000" cy="476250"/>
          </a:xfrm>
          <a:prstGeom prst="rect">
            <a:avLst/>
          </a:prstGeom>
        </p:spPr>
        <p:txBody>
          <a:bodyPr wrap="square" lIns="0" tIns="0" rIns="0" bIns="0" anchor="t">
            <a:normAutofit fontScale="90580"/>
          </a:bodyPr>
          <a:lstStyle/>
          <a:p>
            <a:pPr algn="l">
              <a:buNone/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customer accepts a set of variants.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19950" y="2552700"/>
            <a:ext cx="381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734300" y="2571750"/>
            <a:ext cx="352425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secondary attribute is disclosed after purchase.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219950" y="3495675"/>
            <a:ext cx="381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3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734300" y="3514725"/>
            <a:ext cx="352425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retailer chooses an eligible variant at fulfillment.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219950" y="4476750"/>
            <a:ext cx="4038600" cy="733425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439025" y="4667250"/>
            <a:ext cx="3600450" cy="409575"/>
          </a:xfrm>
          <a:prstGeom prst="rect">
            <a:avLst/>
          </a:prstGeom>
        </p:spPr>
        <p:txBody>
          <a:bodyPr wrap="square" lIns="0" tIns="0" rIns="0" bIns="0" anchor="t">
            <a:normAutofit fontScale="89583"/>
          </a:bodyPr>
          <a:lstStyle/>
          <a:p>
            <a:pPr algn="l">
              <a:buNone/>
              <a:defRPr sz="150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opaque order consolidates variant-level demand into a flexible customer type.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33400" y="5505450"/>
            <a:ext cx="11125200" cy="619125"/>
          </a:xfrm>
          <a:prstGeom prst="rect">
            <a:avLst/>
          </a:prstGeom>
          <a:solidFill>
            <a:srgbClr val="F2F3F2"/>
          </a:solidFill>
          <a:ln w="0">
            <a:solidFill>
              <a:srgbClr val="F2F3F2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5676900"/>
            <a:ext cx="10629900" cy="314325"/>
          </a:xfrm>
          <a:prstGeom prst="rect">
            <a:avLst/>
          </a:prstGeom>
        </p:spPr>
        <p:txBody>
          <a:bodyPr wrap="square" lIns="0" tIns="0" rIns="0" bIns="0" anchor="t">
            <a:normAutofit fontScale="92021"/>
          </a:bodyPr>
          <a:lstStyle/>
          <a:p>
            <a:pPr algn="ctr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Background challenge: variant demand is skewed and shifts with seasons, promotions, and observed customer features.</a:t>
            </a: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575" y="2157989"/>
            <a:ext cx="5676900" cy="2484871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Opaque selling is a practical pooling mechanism</a:t>
            </a: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04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028700"/>
            <a:ext cx="111252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Asymmetric and shifting demand meets a doubly exponential menu space.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362075"/>
            <a:ext cx="3333750" cy="34671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429125" y="1362075"/>
            <a:ext cx="3333750" cy="34671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24850" y="1362075"/>
            <a:ext cx="3333750" cy="34671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1619250"/>
            <a:ext cx="2667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 · OPACITY DESIGN  A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2095500"/>
            <a:ext cx="2667000" cy="838200"/>
          </a:xfrm>
          <a:prstGeom prst="rect">
            <a:avLst/>
          </a:prstGeom>
        </p:spPr>
        <p:txBody>
          <a:bodyPr wrap="square" lIns="0" tIns="0" rIns="0" bIns="0" anchor="t">
            <a:normAutofit fontScale="86402"/>
          </a:bodyPr>
          <a:lstStyle/>
          <a:p>
            <a:pPr algn="l">
              <a:buNone/>
              <a:defRPr sz="19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Which variants enter each opaque product—and how do products overlap?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3286125"/>
            <a:ext cx="1333500" cy="219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Failure mode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3629025"/>
            <a:ext cx="2667000" cy="7715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Disjoint or fragile menus cannot move demand across the whole assortment.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76775" y="1619250"/>
            <a:ext cx="27622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 · INVENTORY ALLOCATION  C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76775" y="2095500"/>
            <a:ext cx="2667000" cy="838200"/>
          </a:xfrm>
          <a:prstGeom prst="rect">
            <a:avLst/>
          </a:prstGeom>
        </p:spPr>
        <p:txBody>
          <a:bodyPr wrap="square" lIns="0" tIns="0" rIns="0" bIns="0" anchor="t">
            <a:normAutofit fontScale="88802"/>
          </a:bodyPr>
          <a:lstStyle/>
          <a:p>
            <a:pPr algn="l">
              <a:buNone/>
              <a:defRPr sz="19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How is the common total stock S distributed across underlying items?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76775" y="3286125"/>
            <a:ext cx="1333500" cy="219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Failure mode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676775" y="3629025"/>
            <a:ext cx="2667000" cy="7715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 connected menu can fail when its reachable items receive too little stock.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572500" y="1619250"/>
            <a:ext cx="27622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3 · FULFILLMENT POLICY  Π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572500" y="2095500"/>
            <a:ext cx="2667000" cy="838200"/>
          </a:xfrm>
          <a:prstGeom prst="rect">
            <a:avLst/>
          </a:prstGeom>
        </p:spPr>
        <p:txBody>
          <a:bodyPr wrap="square" lIns="0" tIns="0" rIns="0" bIns="0" anchor="t">
            <a:normAutofit fontScale="86398"/>
          </a:bodyPr>
          <a:lstStyle/>
          <a:p>
            <a:pPr algn="l">
              <a:buNone/>
              <a:defRPr sz="19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Which eligible item serves each opaque arrival after its type is observed?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572500" y="3286125"/>
            <a:ext cx="1333500" cy="219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Failure mode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572500" y="3629025"/>
            <a:ext cx="2667000" cy="7715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Myopic routing can deplete an item faster than its planned inventory share.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33400" y="5162550"/>
            <a:ext cx="11125200" cy="876300"/>
          </a:xfrm>
          <a:prstGeom prst="rect">
            <a:avLst/>
          </a:prstGeom>
          <a:solidFill>
            <a:srgbClr val="F7EFE1"/>
          </a:solidFill>
          <a:ln w="0">
            <a:solidFill>
              <a:srgbClr val="F7EFE1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81050" y="5362575"/>
            <a:ext cx="18097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Operational problem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1050" y="5676900"/>
            <a:ext cx="10591800" cy="266700"/>
          </a:xfrm>
          <a:prstGeom prst="rect">
            <a:avLst/>
          </a:prstGeom>
        </p:spPr>
        <p:txBody>
          <a:bodyPr wrap="square" lIns="0" tIns="0" rIns="0" bIns="0" anchor="t">
            <a:normAutofit fontScale="87384"/>
          </a:bodyPr>
          <a:lstStyle/>
          <a:p>
            <a:pPr algn="ctr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Build a scheme whose induced demand flow, reachable supply, and online depletion remain aligned throughout the cycle.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Pooling depends on three coupled decisions</a:t>
            </a:r>
          </a:p>
        </p:txBody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0" y="981075"/>
            <a:ext cx="12192000" cy="32385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23900" y="1552575"/>
            <a:ext cx="285750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619625" y="1552575"/>
            <a:ext cx="285750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515350" y="1552575"/>
            <a:ext cx="285750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81050" y="1619250"/>
            <a:ext cx="26670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 · OPACITY DESIGN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676775" y="1619250"/>
            <a:ext cx="276225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 · INVENTORY ALLOCATION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572500" y="1619250"/>
            <a:ext cx="276225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3 · FULFILLMENT POLICY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05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333500"/>
            <a:ext cx="5143500" cy="4000500"/>
          </a:xfrm>
          <a:prstGeom prst="rect">
            <a:avLst/>
          </a:prstGeom>
          <a:solidFill>
            <a:srgbClr val="F2F3F2"/>
          </a:solidFill>
          <a:ln w="0">
            <a:solidFill>
              <a:srgbClr val="F2F3F2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981700" y="1333500"/>
            <a:ext cx="5676900" cy="4000500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571625"/>
            <a:ext cx="2667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PRIOR BENCHMARK · EYZ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29350" y="1571625"/>
            <a:ext cx="31432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THIS PAPER'S OPERATING REGIME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047875"/>
            <a:ext cx="361950" cy="219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01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57300" y="2028825"/>
            <a:ext cx="3905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Symmetric item demand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2047875"/>
            <a:ext cx="361950" cy="219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01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705600" y="2028825"/>
            <a:ext cx="43434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Asymmetric and shifting demand</a:t>
            </a: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781050" y="2419350"/>
            <a:ext cx="459105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229350" y="2419350"/>
            <a:ext cx="5124450" cy="9525"/>
          </a:xfrm>
          <a:prstGeom prst="line">
            <a:avLst/>
          </a:prstGeom>
          <a:noFill/>
          <a:ln w="9525">
            <a:solidFill>
              <a:srgbClr val="C5DAE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2647950"/>
            <a:ext cx="361950" cy="219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02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57300" y="2628900"/>
            <a:ext cx="3905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Uniform item inventory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29350" y="2647950"/>
            <a:ext cx="361950" cy="219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02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705600" y="2628900"/>
            <a:ext cx="43434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General or design-aware allocation</a:t>
            </a: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781050" y="3019425"/>
            <a:ext cx="459105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6229350" y="3019425"/>
            <a:ext cx="5124450" cy="9525"/>
          </a:xfrm>
          <a:prstGeom prst="line">
            <a:avLst/>
          </a:prstGeom>
          <a:noFill/>
          <a:ln w="9525">
            <a:solidFill>
              <a:srgbClr val="C5DAE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81050" y="3248025"/>
            <a:ext cx="361950" cy="219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03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257300" y="3228975"/>
            <a:ext cx="3905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Menu treated as given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29350" y="3248025"/>
            <a:ext cx="361950" cy="219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03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705600" y="3228975"/>
            <a:ext cx="43434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Arbitrary overlapping opaque products</a:t>
            </a: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781050" y="3619500"/>
            <a:ext cx="459105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6229350" y="3619500"/>
            <a:ext cx="5124450" cy="9525"/>
          </a:xfrm>
          <a:prstGeom prst="line">
            <a:avLst/>
          </a:prstGeom>
          <a:noFill/>
          <a:ln w="9525">
            <a:solidFill>
              <a:srgbClr val="C5DAE8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81050" y="3848100"/>
            <a:ext cx="361950" cy="219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04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257300" y="3829050"/>
            <a:ext cx="3905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Raw-load / balls-into-bins view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229350" y="3848100"/>
            <a:ext cx="361950" cy="219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04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705600" y="3829050"/>
            <a:ext cx="43434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Load deviations relative to planned stock</a:t>
            </a:r>
          </a:p>
        </p:txBody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781050" y="4219575"/>
            <a:ext cx="459105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6229350" y="4219575"/>
            <a:ext cx="5124450" cy="9525"/>
          </a:xfrm>
          <a:prstGeom prst="line">
            <a:avLst/>
          </a:prstGeom>
          <a:noFill/>
          <a:ln w="9525">
            <a:solidFill>
              <a:srgbClr val="C5DAE8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81050" y="4448175"/>
            <a:ext cx="361950" cy="219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05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257300" y="4429125"/>
            <a:ext cx="3905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ε-expansion condition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229350" y="4448175"/>
            <a:ext cx="361950" cy="219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05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705600" y="4429125"/>
            <a:ext cx="43434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Slack on the induced item–customer graph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33400" y="5600700"/>
            <a:ext cx="111252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FA3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81050" y="5743575"/>
            <a:ext cx="10629900" cy="2762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Under asymmetry, the bottleneck is reachable inventory minus effective demand—not subset size alone.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Existing theory covers a symmetric benchmark</a:t>
            </a:r>
          </a:p>
        </p:txBody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200150" y="4362450"/>
            <a:ext cx="4048125" cy="371475"/>
          </a:xfrm>
          <a:prstGeom prst="rect">
            <a:avLst/>
          </a:prstGeom>
          <a:solidFill>
            <a:srgbClr val="F2F3F2"/>
          </a:solidFill>
          <a:ln w="0">
            <a:solidFill>
              <a:srgbClr val="F2F3F2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257300" y="4429125"/>
            <a:ext cx="3905250" cy="28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Subset-expansion condition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06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76350"/>
            <a:ext cx="1809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RESEARCH QUESTION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676400"/>
            <a:ext cx="5067300" cy="1752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What structural property of an opacity design and its inventory allocation supports near-optimal pooling under asymmetric and time-varying demand?</a:t>
            </a: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5962650" y="1323975"/>
            <a:ext cx="9525" cy="402907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419850" y="1276350"/>
            <a:ext cx="1047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ANSWER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19850" y="1695450"/>
            <a:ext cx="4857750" cy="666750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629400" y="1885950"/>
            <a:ext cx="4457700" cy="276225"/>
          </a:xfrm>
          <a:prstGeom prst="rect">
            <a:avLst/>
          </a:prstGeom>
        </p:spPr>
        <p:txBody>
          <a:bodyPr wrap="square" lIns="0" tIns="0" rIns="0" bIns="0" anchor="t">
            <a:normAutofit fontScale="94788"/>
          </a:bodyPr>
          <a:lstStyle/>
          <a:p>
            <a:pPr algn="l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  Encode feasible fulfillment as a bipartite graph.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19850" y="2524125"/>
            <a:ext cx="4857750" cy="666750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629400" y="2724150"/>
            <a:ext cx="4457700" cy="276225"/>
          </a:xfrm>
          <a:prstGeom prst="rect">
            <a:avLst/>
          </a:prstGeom>
        </p:spPr>
        <p:txBody>
          <a:bodyPr wrap="square" lIns="0" tIns="0" rIns="0" bIns="0" anchor="t">
            <a:normAutofit fontScale="99174"/>
          </a:bodyPr>
          <a:lstStyle/>
          <a:p>
            <a:pPr algn="l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  Measure the weakest supply slack with GCG.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19850" y="3352800"/>
            <a:ext cx="4857750" cy="666750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629400" y="3552825"/>
            <a:ext cx="4457700" cy="2762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3  Align stock, then route by load deviation.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19850" y="4181475"/>
            <a:ext cx="4857750" cy="876300"/>
          </a:xfrm>
          <a:prstGeom prst="rect">
            <a:avLst/>
          </a:prstGeom>
          <a:solidFill>
            <a:srgbClr val="2F6FA3"/>
          </a:solidFill>
          <a:ln w="0">
            <a:solidFill>
              <a:srgbClr val="2F6FA3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629400" y="4362450"/>
            <a:ext cx="445770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4  Obtain Ω(S⁻¹ᐟ²) savings—the same asymptotic order as full flexibility.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33400" y="5572125"/>
            <a:ext cx="11125200" cy="581025"/>
          </a:xfrm>
          <a:prstGeom prst="rect">
            <a:avLst/>
          </a:prstGeom>
          <a:solidFill>
            <a:srgbClr val="F2F3F2"/>
          </a:solidFill>
          <a:ln w="0">
            <a:solidFill>
              <a:srgbClr val="F2F3F2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81050" y="5734050"/>
            <a:ext cx="10629900" cy="276225"/>
          </a:xfrm>
          <a:prstGeom prst="rect">
            <a:avLst/>
          </a:prstGeom>
        </p:spPr>
        <p:txBody>
          <a:bodyPr wrap="square" lIns="0" tIns="0" rIns="0" bIns="0" anchor="t">
            <a:normAutofit fontScale="95769"/>
          </a:bodyPr>
          <a:lstStyle/>
          <a:p>
            <a:pPr algn="ctr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Talk roadmap: model → structural certificate → quantitative guarantees → design diagnostics → numerical evidence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What makes sparse opacity work?</a:t>
            </a: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419850" y="4181475"/>
            <a:ext cx="4857750" cy="876300"/>
          </a:xfrm>
          <a:prstGeom prst="rect">
            <a:avLst/>
          </a:prstGeom>
          <a:solidFill>
            <a:srgbClr val="2F6FA3"/>
          </a:solidFill>
          <a:ln w="0">
            <a:solidFill>
              <a:srgbClr val="2F6FA3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629400" y="4419600"/>
            <a:ext cx="44577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4  Obtain the full-flexibility savings order.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07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57300"/>
            <a:ext cx="2667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OFFLINE PRIMITIVES AND CHOICES</a:t>
            </a: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1285875" y="2714625"/>
            <a:ext cx="9353550" cy="9525"/>
          </a:xfrm>
          <a:prstGeom prst="line">
            <a:avLst/>
          </a:prstGeom>
          <a:noFill/>
          <a:ln w="28575">
            <a:solidFill>
              <a:srgbClr val="CDD2D7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1581150" y="2476500"/>
            <a:ext cx="476250" cy="476250"/>
          </a:xfrm>
          <a:prstGeom prst="ellipse">
            <a:avLst/>
          </a:prstGeom>
          <a:solidFill>
            <a:srgbClr val="2F6FA3"/>
          </a:solidFill>
          <a:ln w="19050">
            <a:solidFill>
              <a:srgbClr val="2F6FA3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581150" y="2562225"/>
            <a:ext cx="476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1647825"/>
            <a:ext cx="22288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7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Menu  A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3171825"/>
            <a:ext cx="2228850" cy="857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offer arbitrary, possibly overlapping opaque products I ⊆ [N]</a:t>
            </a: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4362450" y="2476500"/>
            <a:ext cx="476250" cy="476250"/>
          </a:xfrm>
          <a:prstGeom prst="ellipse">
            <a:avLst/>
          </a:prstGeom>
          <a:solidFill>
            <a:srgbClr val="17191C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362450" y="2562225"/>
            <a:ext cx="476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486150" y="1647825"/>
            <a:ext cx="22288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Demand  (p,q)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86150" y="3171825"/>
            <a:ext cx="2228850" cy="857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base item choice and transfer into opaque customer types</a:t>
            </a: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7143750" y="2476500"/>
            <a:ext cx="476250" cy="476250"/>
          </a:xfrm>
          <a:prstGeom prst="ellipse">
            <a:avLst/>
          </a:prstGeom>
          <a:solidFill>
            <a:srgbClr val="2F6FA3"/>
          </a:solidFill>
          <a:ln w="19050">
            <a:solidFill>
              <a:srgbClr val="2F6FA3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143750" y="2562225"/>
            <a:ext cx="476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3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67450" y="1647825"/>
            <a:ext cx="22288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7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Stock  c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67450" y="3171825"/>
            <a:ext cx="2228850" cy="857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allocate fixed total stock S through Sᵢ = cᵢS</a:t>
            </a: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9925050" y="2476500"/>
            <a:ext cx="476250" cy="476250"/>
          </a:xfrm>
          <a:prstGeom prst="ellipse">
            <a:avLst/>
          </a:prstGeom>
          <a:solidFill>
            <a:srgbClr val="17191C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925050" y="2562225"/>
            <a:ext cx="476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4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048750" y="1647825"/>
            <a:ext cx="22288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Fulfillment  π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048750" y="3171825"/>
            <a:ext cx="2228850" cy="857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after type is observed, choose one eligible item online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33400" y="4457700"/>
            <a:ext cx="11125200" cy="819150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81050" y="4667250"/>
            <a:ext cx="228600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Opaque selling scheme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1050" y="4991100"/>
            <a:ext cx="10572750" cy="247650"/>
          </a:xfrm>
          <a:prstGeom prst="rect">
            <a:avLst/>
          </a:prstGeom>
        </p:spPr>
        <p:txBody>
          <a:bodyPr wrap="square" lIns="0" tIns="0" rIns="0" bIns="0" anchor="t">
            <a:normAutofit fontScale="98485"/>
          </a:bodyPr>
          <a:lstStyle/>
          <a:p>
            <a:pPr algn="ctr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(c, q, A) induces the graph, effective type demand, and inventory vector; π operates the scheme.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33400" y="5657850"/>
            <a:ext cx="111252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Base analysis: stationary demand. Robustness section: general fixed c and three specified time-varying regimes.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The model separates offline design and online fulfillment</a:t>
            </a:r>
          </a:p>
        </p:txBody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04850" y="1552575"/>
            <a:ext cx="2228850" cy="466725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04850" y="1647825"/>
            <a:ext cx="2228850" cy="342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Opacity menu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04850" y="3114675"/>
            <a:ext cx="2228850" cy="962025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04850" y="3209925"/>
            <a:ext cx="2228850" cy="781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offer arbitrary, possibly overlapping opaque products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486150" y="1552575"/>
            <a:ext cx="2228850" cy="466725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486150" y="1647825"/>
            <a:ext cx="2228850" cy="342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Demand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486150" y="3114675"/>
            <a:ext cx="2228850" cy="962025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3486150" y="3209925"/>
            <a:ext cx="2228850" cy="781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base item choice and transfer into customer types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267450" y="1552575"/>
            <a:ext cx="2228850" cy="466725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267450" y="1647825"/>
            <a:ext cx="2228850" cy="342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Inventory shares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267450" y="3114675"/>
            <a:ext cx="2228850" cy="962025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267450" y="3209925"/>
            <a:ext cx="2228850" cy="781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allocate fixed total stock across underlying items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048750" y="1552575"/>
            <a:ext cx="2228850" cy="466725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048750" y="1647825"/>
            <a:ext cx="2228850" cy="342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Fulfillment policy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048750" y="3114675"/>
            <a:ext cx="2228850" cy="962025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9048750" y="3209925"/>
            <a:ext cx="2228850" cy="781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after type is observed, choose one eligible item online</a:t>
            </a: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33400" y="4457700"/>
            <a:ext cx="11125200" cy="819150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781050" y="4667250"/>
            <a:ext cx="2286000" cy="2381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Opaque selling scheme</a:t>
            </a: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781050" y="5010150"/>
            <a:ext cx="10572750" cy="2571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offline choices induce effective demand, the fulfillment graph, and the inventory vector.</a:t>
            </a: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476250" y="5581650"/>
            <a:ext cx="11239500" cy="4191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533400" y="5657850"/>
            <a:ext cx="11125200" cy="304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Base analysis: stationary demand. Robustness: general fixed allocations and three specified time-varying regimes.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08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323975"/>
            <a:ext cx="337185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410075" y="1323975"/>
            <a:ext cx="337185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286750" y="1323975"/>
            <a:ext cx="337185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581150"/>
            <a:ext cx="1143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ITEMS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019300"/>
            <a:ext cx="2571750" cy="4667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40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[N] = {1,…,N}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2724150"/>
            <a:ext cx="2667000" cy="990600"/>
          </a:xfrm>
          <a:prstGeom prst="rect">
            <a:avLst/>
          </a:prstGeom>
        </p:spPr>
        <p:txBody>
          <a:bodyPr wrap="square" lIns="0" tIns="0" rIns="0" bIns="0" anchor="t">
            <a:normAutofit fontScale="98846"/>
          </a:bodyPr>
          <a:lstStyle/>
          <a:p>
            <a:pPr algn="l">
              <a:buNone/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Horizontally differentiated by a secondary attribute such as color or style.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3981450"/>
            <a:ext cx="266700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Traditional type i chooses item i with base probability pᵢ.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657725" y="1581150"/>
            <a:ext cx="1809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OPAQUE PRODUCTS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57725" y="2019300"/>
            <a:ext cx="2571750" cy="4667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40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 ⊆ [N]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57725" y="2724150"/>
            <a:ext cx="2667000" cy="990600"/>
          </a:xfrm>
          <a:prstGeom prst="rect">
            <a:avLst/>
          </a:prstGeom>
        </p:spPr>
        <p:txBody>
          <a:bodyPr wrap="square" lIns="0" tIns="0" rIns="0" bIns="0" anchor="t">
            <a:normAutofit fontScale="94203"/>
          </a:bodyPr>
          <a:lstStyle/>
          <a:p>
            <a:pPr algn="l">
              <a:buNone/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 buyer accepts any one item in I; the retailer selects the realized variant.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57725" y="3981450"/>
            <a:ext cx="266700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offered collection A is the opacity design.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534400" y="1581150"/>
            <a:ext cx="1809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DEMAND TRANSFER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534400" y="2019300"/>
            <a:ext cx="2571750" cy="4667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qᵢ,ᴵ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534400" y="2724150"/>
            <a:ext cx="2667000" cy="990600"/>
          </a:xfrm>
          <a:prstGeom prst="rect">
            <a:avLst/>
          </a:prstGeom>
        </p:spPr>
        <p:txBody>
          <a:bodyPr wrap="square" lIns="0" tIns="0" rIns="0" bIns="0" anchor="t">
            <a:normAutofit fontScale="94203"/>
          </a:bodyPr>
          <a:lstStyle/>
          <a:p>
            <a:pPr algn="l">
              <a:buNone/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Probability that a customer who would have bought i instead buys opaque product I.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534400" y="3981450"/>
            <a:ext cx="266700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q records demand response; it need not follow membership in I.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5067300"/>
            <a:ext cx="11125200" cy="952500"/>
          </a:xfrm>
          <a:prstGeom prst="rect">
            <a:avLst/>
          </a:prstGeom>
          <a:solidFill>
            <a:srgbClr val="F7EFE1"/>
          </a:solidFill>
          <a:ln w="0">
            <a:solidFill>
              <a:srgbClr val="F7EFE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81050" y="5257800"/>
            <a:ext cx="18097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Critical distinction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81050" y="5562600"/>
            <a:ext cx="10572750" cy="381000"/>
          </a:xfrm>
          <a:prstGeom prst="rect">
            <a:avLst/>
          </a:prstGeom>
        </p:spPr>
        <p:txBody>
          <a:bodyPr wrap="square" lIns="0" tIns="0" rIns="0" bIns="0" anchor="t">
            <a:normAutofit fontScale="79365"/>
          </a:bodyPr>
          <a:lstStyle/>
          <a:p>
            <a:pPr algn="ctr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qᵢ,ᴵ describes where demand originates; I describes which items can fulfill it. A base-i customer may transfer to an opaque product that does not contain i.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Demand origin differs from fulfillment eligibility</a:t>
            </a: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23900" y="1952625"/>
            <a:ext cx="2905125" cy="6286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600575" y="1952625"/>
            <a:ext cx="2905125" cy="6286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477250" y="1952625"/>
            <a:ext cx="2905125" cy="6286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3924300"/>
            <a:ext cx="2762250" cy="6381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619625" y="3924300"/>
            <a:ext cx="2762250" cy="6381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496300" y="3924300"/>
            <a:ext cx="2762250" cy="6381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81050" y="4000500"/>
            <a:ext cx="2667000" cy="4953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Traditional customers choose a specific item.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657725" y="4000500"/>
            <a:ext cx="2667000" cy="4953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offered collection is the opacity design.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534400" y="4000500"/>
            <a:ext cx="2667000" cy="4953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Transfers record demand response, not eligibility.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33400" y="5067300"/>
            <a:ext cx="11125200" cy="952500"/>
          </a:xfrm>
          <a:prstGeom prst="rect">
            <a:avLst/>
          </a:prstGeom>
          <a:solidFill>
            <a:srgbClr val="F7EFE1"/>
          </a:solidFill>
          <a:ln w="0">
            <a:solidFill>
              <a:srgbClr val="F7EFE1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81050" y="5257800"/>
            <a:ext cx="180975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Critical distinction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81050" y="5562600"/>
            <a:ext cx="10572750" cy="381000"/>
          </a:xfrm>
          <a:prstGeom prst="rect">
            <a:avLst/>
          </a:prstGeom>
        </p:spPr>
        <p:txBody>
          <a:bodyPr wrap="square" lIns="0" tIns="0" rIns="0" bIns="0" anchor="t">
            <a:normAutofit fontScale="79365"/>
          </a:bodyPr>
          <a:lstStyle/>
          <a:p>
            <a:pPr algn="ctr"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transfer matrix describes where demand originates; the opaque-product set describes which items can fulfill it. Origin and eligibility need not coincide.</a:t>
            </a:r>
          </a:p>
        </p:txBody>
      </p:sp>
      <p:pic>
        <p:nvPicPr>
          <p:cNvPr id="75" name="图片 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113" y="2085975"/>
            <a:ext cx="1563624" cy="342900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6994" y="2085975"/>
            <a:ext cx="781812" cy="342900"/>
          </a:xfrm>
          <a:prstGeom prst="rect">
            <a:avLst/>
          </a:prstGeom>
        </p:spPr>
      </p:pic>
      <p:pic>
        <p:nvPicPr>
          <p:cNvPr id="77" name="图片 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8825" y="2057400"/>
            <a:ext cx="5905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09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57300"/>
            <a:ext cx="2857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EFFECTIVE DEMAND PROBABILITIES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647825"/>
            <a:ext cx="6858000" cy="1476375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647825"/>
            <a:ext cx="76200" cy="1476375"/>
          </a:xfrm>
          <a:prstGeom prst="rect">
            <a:avLst/>
          </a:prstGeom>
          <a:solidFill>
            <a:srgbClr val="2F6FA3"/>
          </a:solidFill>
          <a:ln w="0">
            <a:solidFill>
              <a:srgbClr val="2F6FA3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3429000"/>
            <a:ext cx="390525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qₘᵢₙ = minᵢ,ᴵ qᵢ,ᴵ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4000500"/>
            <a:ext cx="3000375" cy="266700"/>
          </a:xfrm>
          <a:prstGeom prst="rect">
            <a:avLst/>
          </a:prstGeom>
        </p:spPr>
        <p:txBody>
          <a:bodyPr wrap="square" lIns="0" tIns="0" rIns="0" bIns="0" anchor="t">
            <a:normAutofit fontScale="98092"/>
          </a:bodyPr>
          <a:lstStyle/>
          <a:p>
            <a:pPr algn="l">
              <a:buNone/>
              <a:defRPr sz="150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Regular demand retained at item i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4410075"/>
            <a:ext cx="3333750" cy="266700"/>
          </a:xfrm>
          <a:prstGeom prst="rect">
            <a:avLst/>
          </a:prstGeom>
        </p:spPr>
        <p:txBody>
          <a:bodyPr wrap="square" lIns="0" tIns="0" rIns="0" bIns="0" anchor="t">
            <a:normAutofit fontScale="96982"/>
          </a:bodyPr>
          <a:lstStyle/>
          <a:p>
            <a:pPr algn="l">
              <a:buNone/>
              <a:defRPr sz="150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Opaque demand pooled into product I</a:t>
            </a: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7848600" y="1381125"/>
            <a:ext cx="9525" cy="368617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305800" y="1257300"/>
            <a:ext cx="2571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CHOICE VERSUS FULFILLMENT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05800" y="1724025"/>
            <a:ext cx="19050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Demand origin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05800" y="2095500"/>
            <a:ext cx="2809875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summation for p̃ᴵ runs over all base items i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05800" y="2990850"/>
            <a:ext cx="2095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Supply eligibility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05800" y="3362325"/>
            <a:ext cx="2809875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only items belonging to I may fulfill type I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05800" y="4257675"/>
            <a:ext cx="2914650" cy="790575"/>
          </a:xfrm>
          <a:prstGeom prst="rect">
            <a:avLst/>
          </a:prstGeom>
          <a:solidFill>
            <a:srgbClr val="F7EFE1"/>
          </a:solidFill>
          <a:ln w="0">
            <a:solidFill>
              <a:srgbClr val="F7EFE1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515350" y="4476750"/>
            <a:ext cx="2495550" cy="409575"/>
          </a:xfrm>
          <a:prstGeom prst="rect">
            <a:avLst/>
          </a:prstGeom>
        </p:spPr>
        <p:txBody>
          <a:bodyPr wrap="square" lIns="0" tIns="0" rIns="0" bIns="0" anchor="t">
            <a:normAutofit fontScale="89583"/>
          </a:bodyPr>
          <a:lstStyle/>
          <a:p>
            <a:pPr algn="ctr">
              <a:buNone/>
              <a:defRPr sz="1500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This separation creates the allocation challenge.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33400" y="5524500"/>
            <a:ext cx="11125200" cy="3143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Special cases:  q = 0 → traditional selling     ·     q = 1 and A = {[N]} → full flexibility</a:t>
            </a: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0269" y="2009775"/>
            <a:ext cx="3662363" cy="790575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Transfers create regular and opaque demand</a:t>
            </a:r>
          </a:p>
        </p:txBody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" y="3257550"/>
            <a:ext cx="6858000" cy="66675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248650" y="1981200"/>
            <a:ext cx="3000375" cy="2057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305800" y="2095500"/>
            <a:ext cx="2095500" cy="28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Demand origin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305800" y="2486025"/>
            <a:ext cx="2809875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aggregates demand from every base item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305800" y="3181350"/>
            <a:ext cx="2095500" cy="28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Supply eligibility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305800" y="3571875"/>
            <a:ext cx="2809875" cy="428625"/>
          </a:xfrm>
          <a:prstGeom prst="rect">
            <a:avLst/>
          </a:prstGeom>
        </p:spPr>
        <p:txBody>
          <a:bodyPr wrap="square" lIns="0" tIns="0" rIns="0" bIns="0" anchor="t">
            <a:normAutofit fontScale="93750"/>
          </a:bodyPr>
          <a:lstStyle/>
          <a:p>
            <a:pPr algn="l">
              <a:defRPr sz="150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only eligible items may fulfill an opaque type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76250" y="5429250"/>
            <a:ext cx="11191875" cy="523875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33400" y="5562600"/>
            <a:ext cx="11125200" cy="2952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Traditional selling has no transfers; full flexibility offers one all-item opaque product.</a:t>
            </a: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510" y="3400425"/>
            <a:ext cx="3659579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10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866900" y="1200150"/>
            <a:ext cx="2286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ITEMS · SUPPLY NODES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15050" y="1200150"/>
            <a:ext cx="23812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REGULAR CUSTOMER TYPES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353550" y="1200150"/>
            <a:ext cx="2190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OPAQUE CUSTOMER TYPES</a:t>
            </a: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2895600" y="1847850"/>
            <a:ext cx="3771900" cy="9525"/>
          </a:xfrm>
          <a:prstGeom prst="line">
            <a:avLst/>
          </a:prstGeom>
          <a:noFill/>
          <a:ln w="19050">
            <a:solidFill>
              <a:srgbClr val="CDD2D7"/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895600" y="2590800"/>
            <a:ext cx="3771900" cy="9525"/>
          </a:xfrm>
          <a:prstGeom prst="line">
            <a:avLst/>
          </a:prstGeom>
          <a:noFill/>
          <a:ln w="19050">
            <a:solidFill>
              <a:srgbClr val="CDD2D7"/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2895600" y="3333750"/>
            <a:ext cx="3771900" cy="9525"/>
          </a:xfrm>
          <a:prstGeom prst="line">
            <a:avLst/>
          </a:prstGeom>
          <a:noFill/>
          <a:ln w="19050">
            <a:solidFill>
              <a:srgbClr val="CDD2D7"/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895600" y="4076700"/>
            <a:ext cx="3771900" cy="9525"/>
          </a:xfrm>
          <a:prstGeom prst="line">
            <a:avLst/>
          </a:prstGeom>
          <a:noFill/>
          <a:ln w="19050">
            <a:solidFill>
              <a:srgbClr val="CDD2D7"/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895600" y="4819650"/>
            <a:ext cx="3771900" cy="9525"/>
          </a:xfrm>
          <a:prstGeom prst="line">
            <a:avLst/>
          </a:prstGeom>
          <a:noFill/>
          <a:ln w="19050">
            <a:solidFill>
              <a:srgbClr val="CDD2D7"/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2895600" y="1847850"/>
            <a:ext cx="6819900" cy="542925"/>
          </a:xfrm>
          <a:prstGeom prst="line">
            <a:avLst/>
          </a:prstGeom>
          <a:noFill/>
          <a:ln w="28575">
            <a:solidFill>
              <a:srgbClr val="2F6FA3"/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2895600" y="2390775"/>
            <a:ext cx="6819900" cy="200025"/>
          </a:xfrm>
          <a:prstGeom prst="lineInv">
            <a:avLst/>
          </a:prstGeom>
          <a:noFill/>
          <a:ln w="28575">
            <a:solidFill>
              <a:srgbClr val="2F6FA3"/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895600" y="2390775"/>
            <a:ext cx="6819900" cy="942975"/>
          </a:xfrm>
          <a:prstGeom prst="lineInv">
            <a:avLst/>
          </a:prstGeom>
          <a:noFill/>
          <a:ln w="28575">
            <a:solidFill>
              <a:srgbClr val="2F6FA3"/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2895600" y="3333750"/>
            <a:ext cx="6819900" cy="942975"/>
          </a:xfrm>
          <a:prstGeom prst="line">
            <a:avLst/>
          </a:prstGeom>
          <a:noFill/>
          <a:ln w="28575">
            <a:solidFill>
              <a:srgbClr val="2F6FA3"/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2895600" y="4076700"/>
            <a:ext cx="6819900" cy="200025"/>
          </a:xfrm>
          <a:prstGeom prst="line">
            <a:avLst/>
          </a:prstGeom>
          <a:noFill/>
          <a:ln w="28575">
            <a:solidFill>
              <a:srgbClr val="2F6FA3"/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2895600" y="4276725"/>
            <a:ext cx="6819900" cy="542925"/>
          </a:xfrm>
          <a:prstGeom prst="lineInv">
            <a:avLst/>
          </a:prstGeom>
          <a:noFill/>
          <a:ln w="28575">
            <a:solidFill>
              <a:srgbClr val="2F6FA3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2476500" y="1638300"/>
            <a:ext cx="419100" cy="419100"/>
          </a:xfrm>
          <a:prstGeom prst="ellipse">
            <a:avLst/>
          </a:prstGeom>
          <a:solidFill>
            <a:srgbClr val="FCFCFA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476500" y="1714500"/>
            <a:ext cx="4191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</a:t>
            </a: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6667500" y="1638300"/>
            <a:ext cx="419100" cy="419100"/>
          </a:xfrm>
          <a:prstGeom prst="ellipse">
            <a:avLst/>
          </a:prstGeom>
          <a:solidFill>
            <a:srgbClr val="F2F3F2"/>
          </a:solidFill>
          <a:ln w="19050">
            <a:solidFill>
              <a:srgbClr val="5B626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667500" y="1714500"/>
            <a:ext cx="4191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</a:t>
            </a: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2476500" y="2381250"/>
            <a:ext cx="419100" cy="419100"/>
          </a:xfrm>
          <a:prstGeom prst="ellipse">
            <a:avLst/>
          </a:prstGeom>
          <a:solidFill>
            <a:srgbClr val="FCFCFA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2476500" y="2457450"/>
            <a:ext cx="4191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</a:t>
            </a: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6667500" y="2381250"/>
            <a:ext cx="419100" cy="419100"/>
          </a:xfrm>
          <a:prstGeom prst="ellipse">
            <a:avLst/>
          </a:prstGeom>
          <a:solidFill>
            <a:srgbClr val="F2F3F2"/>
          </a:solidFill>
          <a:ln w="19050">
            <a:solidFill>
              <a:srgbClr val="5B626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667500" y="2457450"/>
            <a:ext cx="4191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</a:t>
            </a: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2476500" y="3124200"/>
            <a:ext cx="419100" cy="419100"/>
          </a:xfrm>
          <a:prstGeom prst="ellipse">
            <a:avLst/>
          </a:prstGeom>
          <a:solidFill>
            <a:srgbClr val="FCFCFA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2476500" y="3200400"/>
            <a:ext cx="4191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3</a:t>
            </a: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6667500" y="3124200"/>
            <a:ext cx="419100" cy="419100"/>
          </a:xfrm>
          <a:prstGeom prst="ellipse">
            <a:avLst/>
          </a:prstGeom>
          <a:solidFill>
            <a:srgbClr val="F2F3F2"/>
          </a:solidFill>
          <a:ln w="19050">
            <a:solidFill>
              <a:srgbClr val="5B626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667500" y="3200400"/>
            <a:ext cx="4191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3</a:t>
            </a: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2476500" y="3867150"/>
            <a:ext cx="419100" cy="419100"/>
          </a:xfrm>
          <a:prstGeom prst="ellipse">
            <a:avLst/>
          </a:prstGeom>
          <a:solidFill>
            <a:srgbClr val="FCFCFA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476500" y="3943350"/>
            <a:ext cx="4191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4</a:t>
            </a: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6667500" y="3867150"/>
            <a:ext cx="419100" cy="419100"/>
          </a:xfrm>
          <a:prstGeom prst="ellipse">
            <a:avLst/>
          </a:prstGeom>
          <a:solidFill>
            <a:srgbClr val="F2F3F2"/>
          </a:solidFill>
          <a:ln w="19050">
            <a:solidFill>
              <a:srgbClr val="5B6268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667500" y="3943350"/>
            <a:ext cx="4191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4</a:t>
            </a: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2476500" y="4610100"/>
            <a:ext cx="419100" cy="419100"/>
          </a:xfrm>
          <a:prstGeom prst="ellipse">
            <a:avLst/>
          </a:prstGeom>
          <a:solidFill>
            <a:srgbClr val="FCFCFA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2476500" y="4686300"/>
            <a:ext cx="4191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5</a:t>
            </a:r>
          </a:p>
        </p:txBody>
      </p:sp>
      <p:sp>
        <p:nvSpPr>
          <p:cNvPr id="36" name="椭圆 35"/>
          <p:cNvSpPr>
            <a:spLocks noGrp="1"/>
          </p:cNvSpPr>
          <p:nvPr/>
        </p:nvSpPr>
        <p:spPr>
          <a:xfrm>
            <a:off x="6667500" y="4610100"/>
            <a:ext cx="419100" cy="419100"/>
          </a:xfrm>
          <a:prstGeom prst="ellipse">
            <a:avLst/>
          </a:prstGeom>
          <a:solidFill>
            <a:srgbClr val="F2F3F2"/>
          </a:solidFill>
          <a:ln w="19050">
            <a:solidFill>
              <a:srgbClr val="5B6268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667500" y="4686300"/>
            <a:ext cx="4191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5</a:t>
            </a:r>
          </a:p>
        </p:txBody>
      </p:sp>
      <p:sp>
        <p:nvSpPr>
          <p:cNvPr id="38" name="椭圆 37"/>
          <p:cNvSpPr>
            <a:spLocks noGrp="1"/>
          </p:cNvSpPr>
          <p:nvPr/>
        </p:nvSpPr>
        <p:spPr>
          <a:xfrm>
            <a:off x="9715500" y="2181225"/>
            <a:ext cx="419100" cy="419100"/>
          </a:xfrm>
          <a:prstGeom prst="ellipse">
            <a:avLst/>
          </a:prstGeom>
          <a:solidFill>
            <a:srgbClr val="EAF2F7"/>
          </a:solidFill>
          <a:ln w="19050">
            <a:solidFill>
              <a:srgbClr val="2F6FA3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715500" y="2257425"/>
            <a:ext cx="4191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I₁</a:t>
            </a:r>
          </a:p>
        </p:txBody>
      </p:sp>
      <p:sp>
        <p:nvSpPr>
          <p:cNvPr id="40" name="椭圆 39"/>
          <p:cNvSpPr>
            <a:spLocks noGrp="1"/>
          </p:cNvSpPr>
          <p:nvPr/>
        </p:nvSpPr>
        <p:spPr>
          <a:xfrm>
            <a:off x="9715500" y="4067175"/>
            <a:ext cx="419100" cy="419100"/>
          </a:xfrm>
          <a:prstGeom prst="ellipse">
            <a:avLst/>
          </a:prstGeom>
          <a:solidFill>
            <a:srgbClr val="EAF2F7"/>
          </a:solidFill>
          <a:ln w="19050">
            <a:solidFill>
              <a:srgbClr val="2F6FA3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9715500" y="4143375"/>
            <a:ext cx="4191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I₂</a:t>
            </a: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914900" y="5076825"/>
            <a:ext cx="285750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one dedicated arc i → i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782050" y="5076825"/>
            <a:ext cx="228600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0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membership arcs i → I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33400" y="5448300"/>
            <a:ext cx="11125200" cy="581025"/>
          </a:xfrm>
          <a:prstGeom prst="rect">
            <a:avLst/>
          </a:prstGeom>
          <a:solidFill>
            <a:srgbClr val="F2F3F2"/>
          </a:solidFill>
          <a:ln w="0">
            <a:solidFill>
              <a:srgbClr val="F2F3F2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781050" y="5600700"/>
            <a:ext cx="10629900" cy="2952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Example from Figure 2:  I₁={1,2,3},  I₂={3,4,5},  A={I₁,I₂}.  An arc (i,j) exists iff item i can fulfill type j.</a:t>
            </a: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A bipartite graph records feasible fulfillment</a:t>
            </a:r>
          </a:p>
        </p:txBody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0" y="990600"/>
            <a:ext cx="12192000" cy="520065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533400" y="1219200"/>
            <a:ext cx="4238625" cy="441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5219700" y="1200150"/>
            <a:ext cx="6438900" cy="44386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781050" y="1419225"/>
            <a:ext cx="17145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INDUCED GRAPH</a:t>
            </a: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781050" y="2181225"/>
            <a:ext cx="3638550" cy="685800"/>
          </a:xfrm>
          <a:prstGeom prst="rect">
            <a:avLst/>
          </a:prstGeom>
        </p:spPr>
        <p:txBody>
          <a:bodyPr wrap="square" lIns="0" tIns="0" rIns="0" bIns="0" anchor="t">
            <a:normAutofit fontScale="92057"/>
          </a:bodyPr>
          <a:lstStyle/>
          <a:p>
            <a:pPr algn="l"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An arc exists exactly when an item can fulfill the corresponding customer type.</a:t>
            </a:r>
          </a:p>
        </p:txBody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781050" y="3048000"/>
            <a:ext cx="36957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781050" y="3238500"/>
            <a:ext cx="200025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REACHABLE SUPPLY</a:t>
            </a: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781050" y="4657725"/>
            <a:ext cx="3724275" cy="723900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981075" y="4848225"/>
            <a:ext cx="3324225" cy="381000"/>
          </a:xfrm>
          <a:prstGeom prst="rect">
            <a:avLst/>
          </a:prstGeom>
        </p:spPr>
        <p:txBody>
          <a:bodyPr wrap="square" lIns="0" tIns="0" rIns="0" bIns="0" anchor="t">
            <a:normAutofit fontScale="83333"/>
          </a:bodyPr>
          <a:lstStyle/>
          <a:p>
            <a:pPr algn="ctr">
              <a:defRPr sz="150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graph separates demand origin from fulfillment eligibility.</a:t>
            </a:r>
          </a:p>
        </p:txBody>
      </p:sp>
      <p:pic>
        <p:nvPicPr>
          <p:cNvPr id="117" name="图片 1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9131" y="1685925"/>
            <a:ext cx="2209038" cy="371475"/>
          </a:xfrm>
          <a:prstGeom prst="rect">
            <a:avLst/>
          </a:prstGeom>
        </p:spPr>
      </p:pic>
      <p:pic>
        <p:nvPicPr>
          <p:cNvPr id="118" name="图片 1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3603844"/>
            <a:ext cx="3676650" cy="593287"/>
          </a:xfrm>
          <a:prstGeom prst="rect">
            <a:avLst/>
          </a:prstGeom>
        </p:spPr>
      </p:pic>
      <p:pic>
        <p:nvPicPr>
          <p:cNvPr id="119" name="图片 1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1334558"/>
            <a:ext cx="6191250" cy="42650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11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28725"/>
            <a:ext cx="1524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CYCLE STATE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647825"/>
            <a:ext cx="2095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Initial stock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2009775"/>
            <a:ext cx="3143250" cy="428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(c₁S, …, c_NS)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2600325"/>
            <a:ext cx="4095750" cy="5048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 is fixed and common across all strategies.</a:t>
            </a: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5381625" y="1743075"/>
            <a:ext cx="5457825" cy="9525"/>
          </a:xfrm>
          <a:prstGeom prst="line">
            <a:avLst/>
          </a:prstGeom>
          <a:noFill/>
          <a:ln w="28575">
            <a:solidFill>
              <a:srgbClr val="CDD2D7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5219700" y="1581150"/>
            <a:ext cx="323850" cy="323850"/>
          </a:xfrm>
          <a:prstGeom prst="ellipse">
            <a:avLst/>
          </a:prstGeom>
          <a:solidFill>
            <a:srgbClr val="17191C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219700" y="1638300"/>
            <a:ext cx="3238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0</a:t>
            </a: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10677525" y="1581150"/>
            <a:ext cx="323850" cy="323850"/>
          </a:xfrm>
          <a:prstGeom prst="ellipse">
            <a:avLst/>
          </a:prstGeom>
          <a:solidFill>
            <a:srgbClr val="2F6FA3"/>
          </a:solidFill>
          <a:ln w="19050">
            <a:solidFill>
              <a:srgbClr val="2F6FA3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677525" y="1638300"/>
            <a:ext cx="3238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R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67525" y="1304925"/>
            <a:ext cx="24765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sequential arrivals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162675" y="2219325"/>
            <a:ext cx="400050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77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R(c,q,𝒜)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162675" y="2771775"/>
            <a:ext cx="4000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0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units served before the first stockout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33400" y="3571875"/>
            <a:ext cx="11125200" cy="1676400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00100" y="3810000"/>
            <a:ext cx="3619500" cy="2952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Why R is the performance proxy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0100" y="4276725"/>
            <a:ext cx="1019175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Larger E[R] means a longer cycle, fewer orders per unit sold, and less residual inventory held at replenishment.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The cycle ends at the first item stockout</a:t>
            </a: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76250" y="1943100"/>
            <a:ext cx="3429000" cy="5715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905500" y="2133600"/>
            <a:ext cx="4857750" cy="1057275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162675" y="2771775"/>
            <a:ext cx="4000500" cy="342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units served before the first stockout</a:t>
            </a: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4547" y="2009775"/>
            <a:ext cx="1589532" cy="400050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297" y="2209800"/>
            <a:ext cx="1413256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12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09675"/>
            <a:ext cx="20002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COST PER UNIT SOLD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562100"/>
            <a:ext cx="6619875" cy="18859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562100"/>
            <a:ext cx="76200" cy="1885950"/>
          </a:xfrm>
          <a:prstGeom prst="rect">
            <a:avLst/>
          </a:prstGeom>
          <a:solidFill>
            <a:srgbClr val="2F6FA3"/>
          </a:solidFill>
          <a:ln w="0">
            <a:solidFill>
              <a:srgbClr val="2F6FA3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3581400"/>
            <a:ext cx="6124575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Larger E[R] lowers ordering cost and the holding-cost upper bound.</a:t>
            </a: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7524750" y="1352550"/>
            <a:ext cx="9525" cy="2857500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924800" y="1209675"/>
            <a:ext cx="23812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TRADITIONAL BENCHMARK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924800" y="1571625"/>
            <a:ext cx="142875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q = 0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924800" y="1952625"/>
            <a:ext cx="31432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cᵢ = pᵢ / Σₖpₖ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924800" y="2438400"/>
            <a:ext cx="31432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leftover  θ₀ = Ω(√S)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924800" y="3114675"/>
            <a:ext cx="2667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FULL-FLEXIBILITY BENCHMARK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924800" y="3476625"/>
            <a:ext cx="31432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 = {[N]}, q = 1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924800" y="3867150"/>
            <a:ext cx="31432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R = S − N + 1  a.s.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33400" y="4524375"/>
            <a:ext cx="4000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COMPARISON METRIC: RELATIVE SAVINGS AGAINST Q = 0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33400" y="4819650"/>
            <a:ext cx="1112520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33400" y="4819650"/>
            <a:ext cx="76200" cy="933450"/>
          </a:xfrm>
          <a:prstGeom prst="rect">
            <a:avLst/>
          </a:prstGeom>
          <a:solidFill>
            <a:srgbClr val="B7791F"/>
          </a:solidFill>
          <a:ln w="0">
            <a:solidFill>
              <a:srgbClr val="B7791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5924550"/>
            <a:ext cx="111252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Analytical comparison holds total demand and total stock S fixed; pricing enters the numerical profit model.</a:t>
            </a: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875" y="1866185"/>
            <a:ext cx="5905500" cy="1268255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493" y="5010150"/>
            <a:ext cx="3768538" cy="561975"/>
          </a:xfrm>
          <a:prstGeom prst="rect">
            <a:avLst/>
          </a:prstGeom>
        </p:spPr>
      </p:pic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Cycle consumption drives inventory cost</a:t>
            </a:r>
          </a:p>
        </p:txBody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810500" y="1495425"/>
            <a:ext cx="3714750" cy="1323975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810500" y="3371850"/>
            <a:ext cx="3714750" cy="89535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2754" y="1581150"/>
            <a:ext cx="1680716" cy="438150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420" y="2219325"/>
            <a:ext cx="2791385" cy="447675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0" y="3630755"/>
            <a:ext cx="3571875" cy="3299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13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28725"/>
            <a:ext cx="1714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STATE VARIABLE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600200"/>
            <a:ext cx="60960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600200"/>
            <a:ext cx="76200" cy="1066800"/>
          </a:xfrm>
          <a:prstGeom prst="rect">
            <a:avLst/>
          </a:prstGeom>
          <a:solidFill>
            <a:srgbClr val="2F6FA3"/>
          </a:solidFill>
          <a:ln w="0">
            <a:solidFill>
              <a:srgbClr val="2F6FA3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2962275"/>
            <a:ext cx="609600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Lᵢ(t) is cumulative depletion; cᵢt is the target depletion implied by the inventory share.</a:t>
            </a: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7077075" y="1447800"/>
            <a:ext cx="9525" cy="380047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600950" y="1228725"/>
            <a:ext cx="2857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OPAQUE TYPE I = {1,2,3}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00950" y="1809750"/>
            <a:ext cx="1238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X₁(t)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858250" y="1838325"/>
            <a:ext cx="1809750" cy="190500"/>
          </a:xfrm>
          <a:prstGeom prst="rect">
            <a:avLst/>
          </a:prstGeom>
          <a:solidFill>
            <a:srgbClr val="CDD2D7"/>
          </a:solidFill>
          <a:ln w="0">
            <a:solidFill>
              <a:srgbClr val="CDD2D7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600950" y="2571750"/>
            <a:ext cx="1238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X₂(t)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858250" y="2600325"/>
            <a:ext cx="1000125" cy="190500"/>
          </a:xfrm>
          <a:prstGeom prst="rect">
            <a:avLst/>
          </a:prstGeom>
          <a:solidFill>
            <a:srgbClr val="2F6FA3"/>
          </a:solidFill>
          <a:ln w="0">
            <a:solidFill>
              <a:srgbClr val="2F6FA3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600950" y="3333750"/>
            <a:ext cx="1238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X₃(t)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858250" y="3362325"/>
            <a:ext cx="1476375" cy="190500"/>
          </a:xfrm>
          <a:prstGeom prst="rect">
            <a:avLst/>
          </a:prstGeom>
          <a:solidFill>
            <a:srgbClr val="CDD2D7"/>
          </a:solidFill>
          <a:ln w="0">
            <a:solidFill>
              <a:srgbClr val="CDD2D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600950" y="4010025"/>
            <a:ext cx="31432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choose item 2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600950" y="4533900"/>
            <a:ext cx="33337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select the lowest Xᵢ(t)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33400" y="4057650"/>
            <a:ext cx="6096000" cy="1209675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62000" y="4276725"/>
            <a:ext cx="8572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Policy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62000" y="4629150"/>
            <a:ext cx="5524500" cy="485775"/>
          </a:xfrm>
          <a:prstGeom prst="rect">
            <a:avLst/>
          </a:prstGeom>
        </p:spPr>
        <p:txBody>
          <a:bodyPr wrap="square" lIns="0" tIns="0" rIns="0" bIns="0" anchor="t">
            <a:normAutofit fontScale="96591"/>
          </a:bodyPr>
          <a:lstStyle/>
          <a:p>
            <a:pPr algn="l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For an opaque order, fulfill with an eligible item having the lowest load deviation; break ties arbitrarily.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33400" y="5648325"/>
            <a:ext cx="111252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rule is allocation-aware and avoids solving the intractable optimal dynamic policy.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491" y="1847850"/>
            <a:ext cx="4763819" cy="552450"/>
          </a:xfrm>
          <a:prstGeom prst="rect">
            <a:avLst/>
          </a:prstGeom>
        </p:spPr>
      </p:pic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Load balancing aligns depletion with stock</a:t>
            </a:r>
          </a:p>
        </p:txBody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76250" y="2876550"/>
            <a:ext cx="6248400" cy="885825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33400" y="2981325"/>
            <a:ext cx="6096000" cy="590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first term is cumulative depletion; the second is target depletion implied by the planned inventory share.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524750" y="1685925"/>
            <a:ext cx="1295400" cy="1990725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524750" y="4457700"/>
            <a:ext cx="3429000" cy="59055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600950" y="4572000"/>
            <a:ext cx="3333750" cy="3619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choose the smallest load deviation</a:t>
            </a: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8382" y="1800225"/>
            <a:ext cx="578612" cy="323850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8382" y="2562225"/>
            <a:ext cx="578612" cy="323850"/>
          </a:xfrm>
          <a:prstGeom prst="rect">
            <a:avLst/>
          </a:prstGeom>
        </p:spPr>
      </p:pic>
      <p:pic>
        <p:nvPicPr>
          <p:cNvPr id="68" name="图片 6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8382" y="3324225"/>
            <a:ext cx="578612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14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09675"/>
            <a:ext cx="3333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DEFINITION: GENERALIZED CHAINING GAP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581150"/>
            <a:ext cx="1112520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581150"/>
            <a:ext cx="76200" cy="1504950"/>
          </a:xfrm>
          <a:prstGeom prst="rect">
            <a:avLst/>
          </a:prstGeom>
          <a:solidFill>
            <a:srgbClr val="2F6FA3"/>
          </a:solidFill>
          <a:ln w="0">
            <a:solidFill>
              <a:srgbClr val="2F6FA3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00100" y="3286125"/>
            <a:ext cx="8191500" cy="2762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J = [N] ∪ A;  I(J′) = items capable of serving at least one customer type in J′</a:t>
            </a: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533400" y="3781425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4162425"/>
            <a:ext cx="190500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 i="0">
                <a:solidFill>
                  <a:srgbClr val="2D7A5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η &gt; 0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628900" y="4171950"/>
            <a:ext cx="8286750" cy="523875"/>
          </a:xfrm>
          <a:prstGeom prst="rect">
            <a:avLst/>
          </a:prstGeom>
        </p:spPr>
        <p:txBody>
          <a:bodyPr wrap="square" lIns="0" tIns="0" rIns="0" bIns="0" anchor="t">
            <a:normAutofit fontScale="95486"/>
          </a:bodyPr>
          <a:lstStyle/>
          <a:p>
            <a:pPr algn="l">
              <a:buNone/>
              <a:defRPr sz="180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Every nontrivial customer subset has strictly more eligible inventory than effective demand.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4962525"/>
            <a:ext cx="190500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η ≤ 0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628900" y="4972050"/>
            <a:ext cx="8286750" cy="523875"/>
          </a:xfrm>
          <a:prstGeom prst="rect">
            <a:avLst/>
          </a:prstGeom>
        </p:spPr>
        <p:txBody>
          <a:bodyPr wrap="square" lIns="0" tIns="0" rIns="0" bIns="0" anchor="t">
            <a:normAutofit fontScale="95486"/>
          </a:bodyPr>
          <a:lstStyle/>
          <a:p>
            <a:pPr algn="l">
              <a:buNone/>
              <a:defRPr sz="180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minimizing subset identifies a supply bottleneck that no routing elsewhere can repair.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33400" y="5791200"/>
            <a:ext cx="11125200" cy="2762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 scheme (c,q,𝒜) is a GCG design exactly when η &gt; 0.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2255" y="1943100"/>
            <a:ext cx="3366541" cy="762000"/>
          </a:xfrm>
          <a:prstGeom prst="rect">
            <a:avLst/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GCG is the weakest capacity–demand cut</a:t>
            </a: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23875" y="3190875"/>
            <a:ext cx="9906000" cy="4572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00100" y="3286125"/>
            <a:ext cx="9525000" cy="2762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For any customer-type subset, collect every item that can serve at least one type in that subset.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76250" y="5676900"/>
            <a:ext cx="11239500" cy="466725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5791200"/>
            <a:ext cx="11125200" cy="2762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 scheme is a GCG design exactly when its minimum capacity–demand cut has positive slack.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15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09675"/>
            <a:ext cx="5095875" cy="495300"/>
          </a:xfrm>
          <a:prstGeom prst="rect">
            <a:avLst/>
          </a:prstGeom>
        </p:spPr>
        <p:txBody>
          <a:bodyPr wrap="square" lIns="0" tIns="0" rIns="0" bIns="0" anchor="t">
            <a:normAutofit fontScale="94203"/>
          </a:bodyPr>
          <a:lstStyle/>
          <a:p>
            <a:pPr algn="l">
              <a:buNone/>
              <a:defRPr sz="1725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If 𝒢𝒜 is disconnected, no inventory allocation can produce η &gt; 0.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29325" y="1209675"/>
            <a:ext cx="5629275" cy="4953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If 𝒢𝒜 is connected, a positive-GCG allocation exists.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857375"/>
            <a:ext cx="5095875" cy="2905125"/>
          </a:xfrm>
          <a:prstGeom prst="rect">
            <a:avLst/>
          </a:prstGeom>
          <a:solidFill>
            <a:srgbClr val="F7EFE1"/>
          </a:solidFill>
          <a:ln w="0">
            <a:solidFill>
              <a:srgbClr val="F7EFE1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29325" y="1857375"/>
            <a:ext cx="5629275" cy="2905125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2066925"/>
            <a:ext cx="1714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DISCONNECTED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57925" y="2066925"/>
            <a:ext cx="1714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CONNECTED</a:t>
            </a: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1524000" y="2857500"/>
            <a:ext cx="2724150" cy="9525"/>
          </a:xfrm>
          <a:prstGeom prst="line">
            <a:avLst/>
          </a:prstGeom>
          <a:noFill/>
          <a:ln w="28575">
            <a:solidFill>
              <a:srgbClr val="B7791F"/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1524000" y="4000500"/>
            <a:ext cx="2724150" cy="9525"/>
          </a:xfrm>
          <a:prstGeom prst="line">
            <a:avLst/>
          </a:prstGeom>
          <a:noFill/>
          <a:ln w="28575">
            <a:solidFill>
              <a:srgbClr val="B7791F"/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838200" y="3429000"/>
            <a:ext cx="4486275" cy="9525"/>
          </a:xfrm>
          <a:prstGeom prst="line">
            <a:avLst/>
          </a:prstGeom>
          <a:noFill/>
          <a:ln w="9525">
            <a:solidFill>
              <a:srgbClr val="B7791F"/>
            </a:solidFill>
            <a:prstDash val="dash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181100" y="2686050"/>
            <a:ext cx="342900" cy="342900"/>
          </a:xfrm>
          <a:prstGeom prst="ellipse">
            <a:avLst/>
          </a:prstGeom>
          <a:solidFill>
            <a:srgbClr val="FCFCFA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81100" y="2743200"/>
            <a:ext cx="342900" cy="219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</a:t>
            </a: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1181100" y="3829050"/>
            <a:ext cx="342900" cy="342900"/>
          </a:xfrm>
          <a:prstGeom prst="ellipse">
            <a:avLst/>
          </a:prstGeom>
          <a:solidFill>
            <a:srgbClr val="FCFCFA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81100" y="3886200"/>
            <a:ext cx="342900" cy="219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</a:t>
            </a: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4248150" y="2686050"/>
            <a:ext cx="342900" cy="342900"/>
          </a:xfrm>
          <a:prstGeom prst="ellipse">
            <a:avLst/>
          </a:prstGeom>
          <a:solidFill>
            <a:srgbClr val="F7EFE1"/>
          </a:solidFill>
          <a:ln w="19050">
            <a:solidFill>
              <a:srgbClr val="B7791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248150" y="2743200"/>
            <a:ext cx="342900" cy="219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I₁</a:t>
            </a: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4248150" y="3829050"/>
            <a:ext cx="342900" cy="342900"/>
          </a:xfrm>
          <a:prstGeom prst="ellipse">
            <a:avLst/>
          </a:prstGeom>
          <a:solidFill>
            <a:srgbClr val="F7EFE1"/>
          </a:solidFill>
          <a:ln w="19050">
            <a:solidFill>
              <a:srgbClr val="B7791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248150" y="3886200"/>
            <a:ext cx="342900" cy="219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I₂</a:t>
            </a: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943725" y="2838450"/>
            <a:ext cx="2990850" cy="247650"/>
          </a:xfrm>
          <a:prstGeom prst="line">
            <a:avLst/>
          </a:prstGeom>
          <a:noFill/>
          <a:ln w="28575">
            <a:solidFill>
              <a:srgbClr val="2F6FA3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943725" y="3086100"/>
            <a:ext cx="2990850" cy="361950"/>
          </a:xfrm>
          <a:prstGeom prst="lineInv">
            <a:avLst/>
          </a:prstGeom>
          <a:noFill/>
          <a:ln w="28575">
            <a:solidFill>
              <a:srgbClr val="2F6FA3"/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6943725" y="3448050"/>
            <a:ext cx="2990850" cy="361950"/>
          </a:xfrm>
          <a:prstGeom prst="line">
            <a:avLst/>
          </a:prstGeom>
          <a:noFill/>
          <a:ln w="28575">
            <a:solidFill>
              <a:srgbClr val="2F6FA3"/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6943725" y="3810000"/>
            <a:ext cx="2990850" cy="247650"/>
          </a:xfrm>
          <a:prstGeom prst="lineInv">
            <a:avLst/>
          </a:prstGeom>
          <a:noFill/>
          <a:ln w="28575">
            <a:solidFill>
              <a:srgbClr val="2F6FA3"/>
            </a:solidFill>
            <a:prstDash val="solid"/>
          </a:ln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6619875" y="2676525"/>
            <a:ext cx="323850" cy="323850"/>
          </a:xfrm>
          <a:prstGeom prst="ellipse">
            <a:avLst/>
          </a:prstGeom>
          <a:solidFill>
            <a:srgbClr val="FCFCFA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619875" y="2733675"/>
            <a:ext cx="3238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</a:t>
            </a: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6619875" y="3286125"/>
            <a:ext cx="323850" cy="323850"/>
          </a:xfrm>
          <a:prstGeom prst="ellipse">
            <a:avLst/>
          </a:prstGeom>
          <a:solidFill>
            <a:srgbClr val="FCFCFA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619875" y="3343275"/>
            <a:ext cx="3238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</a:t>
            </a: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6619875" y="3895725"/>
            <a:ext cx="323850" cy="323850"/>
          </a:xfrm>
          <a:prstGeom prst="ellipse">
            <a:avLst/>
          </a:prstGeom>
          <a:solidFill>
            <a:srgbClr val="FCFCFA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619875" y="3952875"/>
            <a:ext cx="3238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3</a:t>
            </a: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9934575" y="2924175"/>
            <a:ext cx="323850" cy="323850"/>
          </a:xfrm>
          <a:prstGeom prst="ellipse">
            <a:avLst/>
          </a:prstGeom>
          <a:solidFill>
            <a:srgbClr val="EAF2F7"/>
          </a:solidFill>
          <a:ln w="19050">
            <a:solidFill>
              <a:srgbClr val="2F6FA3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934575" y="2981325"/>
            <a:ext cx="3238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7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I1</a:t>
            </a: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9934575" y="3648075"/>
            <a:ext cx="323850" cy="323850"/>
          </a:xfrm>
          <a:prstGeom prst="ellipse">
            <a:avLst/>
          </a:prstGeom>
          <a:solidFill>
            <a:srgbClr val="EAF2F7"/>
          </a:solidFill>
          <a:ln w="19050">
            <a:solidFill>
              <a:srgbClr val="2F6FA3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934575" y="3705225"/>
            <a:ext cx="3238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7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I2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33400" y="5057775"/>
            <a:ext cx="4476750" cy="209550"/>
          </a:xfrm>
          <a:prstGeom prst="rect">
            <a:avLst/>
          </a:prstGeom>
        </p:spPr>
        <p:txBody>
          <a:bodyPr wrap="square" lIns="0" tIns="0" rIns="0" bIns="0" anchor="t">
            <a:normAutofit fontScale="94804"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ONE CONSTRUCTIVE CERTIFICATE: DESIGN-AWARE EVEN ALLOCATION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33400" y="5391150"/>
            <a:ext cx="7239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33400" y="5391150"/>
            <a:ext cx="76200" cy="685800"/>
          </a:xfrm>
          <a:prstGeom prst="rect">
            <a:avLst/>
          </a:prstGeom>
          <a:solidFill>
            <a:srgbClr val="2F6FA3"/>
          </a:solidFill>
          <a:ln w="0">
            <a:solidFill>
              <a:srgbClr val="2F6FA3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115300" y="5057775"/>
            <a:ext cx="1143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Exact scope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115300" y="5391150"/>
            <a:ext cx="3314700" cy="685800"/>
          </a:xfrm>
          <a:prstGeom prst="rect">
            <a:avLst/>
          </a:prstGeom>
        </p:spPr>
        <p:txBody>
          <a:bodyPr wrap="square" lIns="0" tIns="0" rIns="0" bIns="0" anchor="t">
            <a:normAutofit fontScale="95238"/>
          </a:bodyPr>
          <a:lstStyle/>
          <a:p>
            <a:pPr algn="l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Connectivity is sufficient for existence—not for an arbitrary fixed stock vector.</a:t>
            </a:r>
          </a:p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5550" y="5438775"/>
            <a:ext cx="1494700" cy="552450"/>
          </a:xfrm>
          <a:prstGeom prst="rect">
            <a:avLst/>
          </a:prstGeom>
        </p:spPr>
      </p:pic>
      <p:sp>
        <p:nvSpPr>
          <p:cNvPr id="44" name="矩形 43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Connectivity determines whether positive GCG is achievable</a:t>
            </a:r>
          </a:p>
        </p:txBody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476250" y="1104900"/>
            <a:ext cx="5238750" cy="66675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5981700" y="1104900"/>
            <a:ext cx="5715000" cy="66675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533400" y="1209675"/>
            <a:ext cx="5095875" cy="495300"/>
          </a:xfrm>
          <a:prstGeom prst="rect">
            <a:avLst/>
          </a:prstGeom>
        </p:spPr>
        <p:txBody>
          <a:bodyPr wrap="square" lIns="0" tIns="0" rIns="0" bIns="0" anchor="t">
            <a:normAutofit fontScale="94203"/>
          </a:bodyPr>
          <a:lstStyle/>
          <a:p>
            <a:pPr algn="l">
              <a:defRPr sz="1725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Disconnected graph: no allocation can produce positive GCG.</a:t>
            </a: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029325" y="1209675"/>
            <a:ext cx="5629275" cy="495300"/>
          </a:xfrm>
          <a:prstGeom prst="rect">
            <a:avLst/>
          </a:prstGeom>
        </p:spPr>
        <p:txBody>
          <a:bodyPr wrap="square" lIns="0" tIns="0" rIns="0" bIns="0" anchor="t">
            <a:normAutofit fontScale="94463"/>
          </a:bodyPr>
          <a:lstStyle/>
          <a:p>
            <a:pPr algn="l">
              <a:defRPr sz="172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Connected graph: an allocation with positive GCG exists.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75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Positive GCG converts flexibility into an O(1/qₘᵢₙ) leftover bound</a:t>
            </a: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16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00150"/>
            <a:ext cx="1112520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32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θ = S − E[R]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619250"/>
            <a:ext cx="111252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expected inventory remaining when the cycle ends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2143125"/>
            <a:ext cx="3333750" cy="2724150"/>
          </a:xfrm>
          <a:prstGeom prst="rect">
            <a:avLst/>
          </a:prstGeom>
          <a:solidFill>
            <a:srgbClr val="F2F3F2"/>
          </a:solidFill>
          <a:ln w="0">
            <a:solidFill>
              <a:srgbClr val="F2F3F2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429125" y="2143125"/>
            <a:ext cx="3333750" cy="2724150"/>
          </a:xfrm>
          <a:prstGeom prst="rect">
            <a:avLst/>
          </a:prstGeom>
          <a:solidFill>
            <a:srgbClr val="EAF2F7"/>
          </a:solidFill>
          <a:ln w="9525">
            <a:solidFill>
              <a:srgbClr val="2F6FA3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324850" y="2143125"/>
            <a:ext cx="3333750" cy="2724150"/>
          </a:xfrm>
          <a:prstGeom prst="rect">
            <a:avLst/>
          </a:prstGeom>
          <a:solidFill>
            <a:srgbClr val="F7EFE1"/>
          </a:solidFill>
          <a:ln w="0">
            <a:solidFill>
              <a:srgbClr val="F7EFE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2381250"/>
            <a:ext cx="2190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TRADITIONAL SELLING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2800350"/>
            <a:ext cx="2667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No cross-item pooling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676775" y="2381250"/>
            <a:ext cx="23812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CONNECTED + ALIGNED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76775" y="2800350"/>
            <a:ext cx="26670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even allocation + load balancing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0" y="2381250"/>
            <a:ext cx="23812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DISCONNECTED DESIGN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572500" y="2800350"/>
            <a:ext cx="2667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Pooling remains local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4200525"/>
            <a:ext cx="26670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central-limit-scale stranded stock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76775" y="4095750"/>
            <a:ext cx="2667000" cy="5619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cycle length stays within O(1/qₘᵢₙ) of total stock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572500" y="4200525"/>
            <a:ext cx="26670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0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system-wide order improvement disappears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33400" y="5238750"/>
            <a:ext cx="111252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FA3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5448300"/>
            <a:ext cx="10629900" cy="361950"/>
          </a:xfrm>
          <a:prstGeom prst="rect">
            <a:avLst/>
          </a:prstGeom>
        </p:spPr>
        <p:txBody>
          <a:bodyPr wrap="square" lIns="0" tIns="0" rIns="0" bIns="0" anchor="t">
            <a:normAutofit fontScale="96259"/>
          </a:bodyPr>
          <a:lstStyle/>
          <a:p>
            <a:pPr algn="ctr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proof uses the GCG/load-deviation argument against the actual demand and allocation—not exchangeable bins.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3522846"/>
            <a:ext cx="2609850" cy="421907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075" y="3586563"/>
            <a:ext cx="2609850" cy="294474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4025" y="3514725"/>
            <a:ext cx="1295400" cy="43815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Positive GCG sharply reduces leftover inventory</a:t>
            </a:r>
          </a:p>
        </p:txBody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76250" y="1104900"/>
            <a:ext cx="11239500" cy="8763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33400" y="1657350"/>
            <a:ext cx="1112520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expected inventory remaining when the cycle ends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81050" y="3429000"/>
            <a:ext cx="2762250" cy="638175"/>
          </a:xfrm>
          <a:prstGeom prst="rect">
            <a:avLst/>
          </a:prstGeom>
          <a:solidFill>
            <a:srgbClr val="F2F3F2"/>
          </a:solidFill>
          <a:ln w="0">
            <a:solidFill>
              <a:srgbClr val="F2F3F2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619625" y="4010025"/>
            <a:ext cx="2762250" cy="723900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676775" y="4133850"/>
            <a:ext cx="2667000" cy="4953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leftover falls sharply below the central-limit scale</a:t>
            </a:r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714" y="1190625"/>
            <a:ext cx="2612571" cy="457200"/>
          </a:xfrm>
          <a:prstGeom prst="rect">
            <a:avLst/>
          </a:prstGeom>
        </p:spPr>
      </p:pic>
      <p:pic>
        <p:nvPicPr>
          <p:cNvPr id="69" name="图片 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060" y="3552825"/>
            <a:ext cx="2494429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17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09675"/>
            <a:ext cx="2667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THEOREM 1 · PREREQUISITES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657350"/>
            <a:ext cx="3619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1685925"/>
            <a:ext cx="4238625" cy="333375"/>
          </a:xfrm>
          <a:prstGeom prst="rect">
            <a:avLst/>
          </a:prstGeom>
        </p:spPr>
        <p:txBody>
          <a:bodyPr wrap="square" lIns="0" tIns="0" rIns="0" bIns="0" anchor="t">
            <a:normAutofit fontScale="95726"/>
          </a:bodyPr>
          <a:lstStyle/>
          <a:p>
            <a:pPr algn="l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N and the opacity design A are fixed as S → ∞.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2190750"/>
            <a:ext cx="3619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2219325"/>
            <a:ext cx="4238625" cy="333375"/>
          </a:xfrm>
          <a:prstGeom prst="rect">
            <a:avLst/>
          </a:prstGeom>
        </p:spPr>
        <p:txBody>
          <a:bodyPr wrap="square" lIns="0" tIns="0" rIns="0" bIns="0" anchor="t">
            <a:normAutofit fontScale="93426"/>
          </a:bodyPr>
          <a:lstStyle/>
          <a:p>
            <a:pPr algn="l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connected design uses the even allocation.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2724150"/>
            <a:ext cx="3619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3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2752725"/>
            <a:ext cx="4238625" cy="333375"/>
          </a:xfrm>
          <a:prstGeom prst="rect">
            <a:avLst/>
          </a:prstGeom>
        </p:spPr>
        <p:txBody>
          <a:bodyPr wrap="square" lIns="0" tIns="0" rIns="0" bIns="0" anchor="t">
            <a:normAutofit fontScale="97740"/>
          </a:bodyPr>
          <a:lstStyle/>
          <a:p>
            <a:pPr algn="l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Opaque orders are fulfilled by load balancing.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33400" y="3257550"/>
            <a:ext cx="3619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4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28700" y="3286125"/>
            <a:ext cx="4238625" cy="333375"/>
          </a:xfrm>
          <a:prstGeom prst="rect">
            <a:avLst/>
          </a:prstGeom>
        </p:spPr>
        <p:txBody>
          <a:bodyPr wrap="square" lIns="0" tIns="0" rIns="0" bIns="0" anchor="t">
            <a:normAutofit fontScale="93426"/>
          </a:bodyPr>
          <a:lstStyle/>
          <a:p>
            <a:pPr algn="l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minimum transfer obeys the stated scaling.</a:t>
            </a: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5772150" y="1352550"/>
            <a:ext cx="9525" cy="2647950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229350" y="1209675"/>
            <a:ext cx="1428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CONCLUSION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1609725"/>
            <a:ext cx="5429250" cy="1914525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229350" y="1609725"/>
            <a:ext cx="76200" cy="1914525"/>
          </a:xfrm>
          <a:prstGeom prst="rect">
            <a:avLst/>
          </a:prstGeom>
          <a:solidFill>
            <a:srgbClr val="2F6FA3"/>
          </a:solidFill>
          <a:ln w="0">
            <a:solidFill>
              <a:srgbClr val="2F6FA3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229350" y="3724275"/>
            <a:ext cx="5429250" cy="533400"/>
          </a:xfrm>
          <a:prstGeom prst="rect">
            <a:avLst/>
          </a:prstGeom>
          <a:solidFill>
            <a:srgbClr val="2F6FA3"/>
          </a:solidFill>
          <a:ln w="0">
            <a:solidFill>
              <a:srgbClr val="2F6FA3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419850" y="3867150"/>
            <a:ext cx="5048250" cy="266700"/>
          </a:xfrm>
          <a:prstGeom prst="rect">
            <a:avLst/>
          </a:prstGeom>
        </p:spPr>
        <p:txBody>
          <a:bodyPr wrap="square" lIns="0" tIns="0" rIns="0" bIns="0" anchor="t">
            <a:normAutofit fontScale="97222"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Relative savings = Ω(S⁻¹ᐟ²)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4486275"/>
            <a:ext cx="12382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COROLLARIES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33400" y="4810125"/>
            <a:ext cx="5257800" cy="866775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81050" y="5010150"/>
            <a:ext cx="4762500" cy="4857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Same asymptotic order as full flexibility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19800" y="4810125"/>
            <a:ext cx="5638800" cy="866775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267450" y="5010150"/>
            <a:ext cx="5143500" cy="485775"/>
          </a:xfrm>
          <a:prstGeom prst="rect">
            <a:avLst/>
          </a:prstGeom>
        </p:spPr>
        <p:txBody>
          <a:bodyPr wrap="square" lIns="0" tIns="0" rIns="0" bIns="0" anchor="t">
            <a:normAutofit fontScale="92391"/>
          </a:bodyPr>
          <a:lstStyle/>
          <a:p>
            <a:pPr algn="ctr">
              <a:buNone/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Same asymptotic order as the optimal fulfillment policy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5876925"/>
            <a:ext cx="111252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Order comparison only: the theorem does not claim equal finite-system savings.</a:t>
            </a: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4150" y="2298545"/>
            <a:ext cx="4819650" cy="470210"/>
          </a:xfrm>
          <a:prstGeom prst="rect">
            <a:avLst/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Sparse GCG designs match the full-flexibility order</a:t>
            </a:r>
          </a:p>
        </p:txBody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71550" y="1600200"/>
            <a:ext cx="4333875" cy="5715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028700" y="1685925"/>
            <a:ext cx="4238625" cy="333375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/>
              <a:t>Items and the opacity design remain fixed as total stock grows.</a:t>
            </a:r>
            <a:endParaRPr sz="1500"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229350" y="3724275"/>
            <a:ext cx="5429250" cy="533400"/>
          </a:xfrm>
          <a:prstGeom prst="rect">
            <a:avLst/>
          </a:prstGeom>
          <a:solidFill>
            <a:srgbClr val="2F6FA3"/>
          </a:solidFill>
          <a:ln w="0">
            <a:solidFill>
              <a:srgbClr val="2F6FA3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419850" y="3867150"/>
            <a:ext cx="504825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Same asymptotic savings order as full flexibility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18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19200"/>
            <a:ext cx="3238500" cy="209550"/>
          </a:xfrm>
          <a:prstGeom prst="rect">
            <a:avLst/>
          </a:prstGeom>
        </p:spPr>
        <p:txBody>
          <a:bodyPr wrap="square" lIns="0" tIns="0" rIns="0" bIns="0" anchor="t">
            <a:normAutofit fontScale="96332"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PROPOSITION: GENERAL INVENTORY ALLOCATION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543050"/>
            <a:ext cx="7048500" cy="2952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Fix 𝒜 and c under the same qₘᵢₙ scaling as the main theorem.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2019300"/>
            <a:ext cx="11125200" cy="1666875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2019300"/>
            <a:ext cx="76200" cy="1666875"/>
          </a:xfrm>
          <a:prstGeom prst="rect">
            <a:avLst/>
          </a:prstGeom>
          <a:solidFill>
            <a:srgbClr val="2F6FA3"/>
          </a:solidFill>
          <a:ln w="0">
            <a:solidFill>
              <a:srgbClr val="2F6FA3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3924300"/>
            <a:ext cx="2857500" cy="2952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cₘᵢₙ = minᵢ cᵢ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886200" y="3924300"/>
            <a:ext cx="5334000" cy="2952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η(c) = worst subset slack under the fixed allocation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33400" y="4486275"/>
            <a:ext cx="11125200" cy="1114425"/>
          </a:xfrm>
          <a:prstGeom prst="rect">
            <a:avLst/>
          </a:prstGeom>
          <a:solidFill>
            <a:srgbClr val="F7EFE1"/>
          </a:solidFill>
          <a:ln w="0">
            <a:solidFill>
              <a:srgbClr val="F7EFE1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4705350"/>
            <a:ext cx="3238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Why connectivity alone can fail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5105400"/>
            <a:ext cx="10287000" cy="400050"/>
          </a:xfrm>
          <a:prstGeom prst="rect">
            <a:avLst/>
          </a:prstGeom>
        </p:spPr>
        <p:txBody>
          <a:bodyPr wrap="square" lIns="0" tIns="0" rIns="0" bIns="0" anchor="t">
            <a:normAutofit fontScale="87500"/>
          </a:bodyPr>
          <a:lstStyle/>
          <a:p>
            <a:pPr algn="l">
              <a:buNone/>
              <a:defRPr sz="150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 connected menu can route too much opaque demand into a subset whose eligible items receive too little stock. The minimizing GCG cut identifies that understocked region.</a:t>
            </a: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8935" y="2171700"/>
            <a:ext cx="7676029" cy="571500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311" y="2924175"/>
            <a:ext cx="3329277" cy="495300"/>
          </a:xfrm>
          <a:prstGeom prst="rect">
            <a:avLst/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Under fixed stock, GCG—not connectivity—governs success</a:t>
            </a: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76250" y="1143000"/>
            <a:ext cx="3905250" cy="66675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1219200"/>
            <a:ext cx="36195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PROPOSITION · GENERAL ALLOCATION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76250" y="1438275"/>
            <a:ext cx="7239000" cy="4572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" y="1543050"/>
            <a:ext cx="7954010" cy="2952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Fix the menu and inventory allocation under the transfer-rate scaling used in Theorem 1.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33400" y="3810000"/>
            <a:ext cx="3095625" cy="55245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810000" y="3810000"/>
            <a:ext cx="5905500" cy="55245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886200" y="3924300"/>
            <a:ext cx="5796280" cy="2952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GCG is the worst subset slack under the fixed allocation.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1815" y="5876925"/>
            <a:ext cx="11125200" cy="342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Even allocation is one construction; quantitative GCG slack is the performance invariant.</a:t>
            </a: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836" y="3857625"/>
            <a:ext cx="1197629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19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19200"/>
            <a:ext cx="1714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FORMAL CONDITION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543050"/>
            <a:ext cx="11125200" cy="1343025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543050"/>
            <a:ext cx="76200" cy="1343025"/>
          </a:xfrm>
          <a:prstGeom prst="rect">
            <a:avLst/>
          </a:prstGeom>
          <a:solidFill>
            <a:srgbClr val="2F6FA3"/>
          </a:solidFill>
          <a:ln w="0">
            <a:solidFill>
              <a:srgbClr val="2F6FA3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3267075"/>
            <a:ext cx="5143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MANUSCRIPT COUNTEREXAMPLE: CONNECTED THREE-ITEM PATH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33400" y="3619500"/>
            <a:ext cx="5095875" cy="1685925"/>
          </a:xfrm>
          <a:prstGeom prst="rect">
            <a:avLst/>
          </a:prstGeom>
          <a:solidFill>
            <a:srgbClr val="F7EFE1"/>
          </a:solidFill>
          <a:ln w="0">
            <a:solidFill>
              <a:srgbClr val="F7EFE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029325" y="3619500"/>
            <a:ext cx="5629275" cy="1685925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3848100"/>
            <a:ext cx="2476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Uniform allocation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4295775"/>
            <a:ext cx="3714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 = (1/3, 1/3, 1/3)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4819650"/>
            <a:ext cx="4095750" cy="2952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bottleneck slack  η ≤ −1/6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276975" y="3848100"/>
            <a:ext cx="2476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Even allocation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276975" y="4295775"/>
            <a:ext cx="4762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c̃ = (5/48, 23/48, 20/48)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76975" y="4819650"/>
            <a:ext cx="4762500" cy="2952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full check gives  η = 1/16 &gt; 0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33400" y="5657850"/>
            <a:ext cx="11125200" cy="400050"/>
          </a:xfrm>
          <a:prstGeom prst="rect">
            <a:avLst/>
          </a:prstGeom>
        </p:spPr>
        <p:txBody>
          <a:bodyPr wrap="square" lIns="0" tIns="0" rIns="0" bIns="0" anchor="t">
            <a:normAutofit fontScale="87037"/>
          </a:bodyPr>
          <a:lstStyle/>
          <a:p>
            <a:pPr algn="ctr">
              <a:buNone/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same connected graph changes from failure to success when inventory follows the induced demand flow.</a:t>
            </a: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7334" y="1685925"/>
            <a:ext cx="6268757" cy="46672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172" y="2286000"/>
            <a:ext cx="2817081" cy="419100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One connected graph can fail or succeed</a:t>
            </a:r>
          </a:p>
        </p:txBody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4171950"/>
            <a:ext cx="4762500" cy="1038225"/>
          </a:xfrm>
          <a:prstGeom prst="rect">
            <a:avLst/>
          </a:prstGeom>
          <a:solidFill>
            <a:srgbClr val="F7EFE1"/>
          </a:solidFill>
          <a:ln w="0">
            <a:solidFill>
              <a:srgbClr val="F7EFE1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191250" y="4171950"/>
            <a:ext cx="5276850" cy="1038225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4453823"/>
            <a:ext cx="4572000" cy="445904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550" y="4457159"/>
            <a:ext cx="5048250" cy="43923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20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19200"/>
            <a:ext cx="2190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TIME-VARYING DEMAND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581150"/>
            <a:ext cx="6858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At arrival t, customer features fₜ induce effective probabilities p̃ⱼₜ.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2133600"/>
            <a:ext cx="11125200" cy="15621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2133600"/>
            <a:ext cx="76200" cy="1562100"/>
          </a:xfrm>
          <a:prstGeom prst="rect">
            <a:avLst/>
          </a:prstGeom>
          <a:solidFill>
            <a:srgbClr val="2F6FA3"/>
          </a:solidFill>
          <a:ln w="0">
            <a:solidFill>
              <a:srgbClr val="2F6FA3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33400" y="4038600"/>
            <a:ext cx="1333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THEOREM 2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4371975"/>
            <a:ext cx="111252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33400" y="4371975"/>
            <a:ext cx="76200" cy="1028700"/>
          </a:xfrm>
          <a:prstGeom prst="rect">
            <a:avLst/>
          </a:prstGeom>
          <a:solidFill>
            <a:srgbClr val="2F6FA3"/>
          </a:solidFill>
          <a:ln w="0">
            <a:solidFill>
              <a:srgbClr val="2F6FA3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33400" y="5657850"/>
            <a:ext cx="11125200" cy="457200"/>
          </a:xfrm>
          <a:prstGeom prst="rect">
            <a:avLst/>
          </a:prstGeom>
          <a:solidFill>
            <a:srgbClr val="F2F3F2"/>
          </a:solidFill>
          <a:ln w="0">
            <a:solidFill>
              <a:srgbClr val="F2F3F2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5781675"/>
            <a:ext cx="1104900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Economic meaning: GCG—not even allocation, symmetry, or stationarity—is the invariant governing inventory efficiency.</a:t>
            </a: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4958" y="2343150"/>
            <a:ext cx="5922085" cy="102870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111" y="4552950"/>
            <a:ext cx="7876253" cy="666750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Worst-period GCG yields the unified guarantee</a:t>
            </a: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76250" y="1447800"/>
            <a:ext cx="7239000" cy="561975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33400" y="1581150"/>
            <a:ext cx="6858000" cy="323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At each arrival, observed customer features determine the effective type-demand vector.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21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381125"/>
            <a:ext cx="3371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410075" y="1381125"/>
            <a:ext cx="3371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286750" y="1381125"/>
            <a:ext cx="3371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619250"/>
            <a:ext cx="2571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 · BASE-DEMAND DRIFT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057400"/>
            <a:ext cx="2667000" cy="60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pᵢₜ fluctuates around a known mean p̄ᵢ.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3038475"/>
            <a:ext cx="1143000" cy="219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Condition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3390900"/>
            <a:ext cx="2667000" cy="5429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δ ≤ qₘᵢₙ / [2N²(1+|A|)]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4324350"/>
            <a:ext cx="2667000" cy="619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Use the even allocation computed from mean demand.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57725" y="1619250"/>
            <a:ext cx="23812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 · FINITE SEGMENTS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57725" y="2057400"/>
            <a:ext cx="2667000" cy="609600"/>
          </a:xfrm>
          <a:prstGeom prst="rect">
            <a:avLst/>
          </a:prstGeom>
        </p:spPr>
        <p:txBody>
          <a:bodyPr wrap="square" lIns="0" tIns="0" rIns="0" bIns="0" anchor="t">
            <a:normAutofit fontScale="93167"/>
          </a:bodyPr>
          <a:lstStyle/>
          <a:p>
            <a:pPr algn="l">
              <a:buNone/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Demand takes one of M observed segment profiles.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57725" y="3038475"/>
            <a:ext cx="1143000" cy="219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Condition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657725" y="3390900"/>
            <a:ext cx="2667000" cy="5429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robust cut LP returns η* &gt; 0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57725" y="4324350"/>
            <a:ext cx="2667000" cy="619125"/>
          </a:xfrm>
          <a:prstGeom prst="rect">
            <a:avLst/>
          </a:prstGeom>
        </p:spPr>
        <p:txBody>
          <a:bodyPr wrap="square" lIns="0" tIns="0" rIns="0" bIns="0" anchor="t">
            <a:normAutofit fontScale="90278"/>
          </a:bodyPr>
          <a:lstStyle/>
          <a:p>
            <a:pPr algn="l">
              <a:buNone/>
              <a:defRPr sz="150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Use one allocation c* that preserves slack across every segment.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534400" y="1619250"/>
            <a:ext cx="23812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3 · TRANSFER DRIFT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534400" y="2057400"/>
            <a:ext cx="2667000" cy="60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Promotions vary qᵢ,ᴵ,ₜ around mean q̄ᵢ,ᴵ.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534400" y="3038475"/>
            <a:ext cx="1143000" cy="2190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Condition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534400" y="3390900"/>
            <a:ext cx="2667000" cy="5429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δq ≤ q̄ₘᵢₙ / [4N|A|]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534400" y="4324350"/>
            <a:ext cx="2667000" cy="619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Use the even allocation computed from mean transfers.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33400" y="5600700"/>
            <a:ext cx="11125200" cy="495300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81050" y="5734050"/>
            <a:ext cx="1062990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Scope: these are the manuscript's verified regimes—not unrestricted non-stationarity.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One allocation covers three time-varying regimes</a:t>
            </a: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23900" y="1952625"/>
            <a:ext cx="2800350" cy="8191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600575" y="1952625"/>
            <a:ext cx="2800350" cy="8191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477250" y="1952625"/>
            <a:ext cx="2800350" cy="8191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81050" y="2057400"/>
            <a:ext cx="2667000" cy="609600"/>
          </a:xfrm>
          <a:prstGeom prst="rect">
            <a:avLst/>
          </a:prstGeom>
        </p:spPr>
        <p:txBody>
          <a:bodyPr wrap="square" lIns="0" tIns="0" rIns="0" bIns="0" anchor="t">
            <a:normAutofit fontScale="86020"/>
          </a:bodyPr>
          <a:lstStyle/>
          <a:p>
            <a:pPr algn="l"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Base demand fluctuates around a known mean profile.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657725" y="2057400"/>
            <a:ext cx="2667000" cy="609600"/>
          </a:xfrm>
          <a:prstGeom prst="rect">
            <a:avLst/>
          </a:prstGeom>
        </p:spPr>
        <p:txBody>
          <a:bodyPr wrap="square" lIns="0" tIns="0" rIns="0" bIns="0" anchor="t">
            <a:normAutofit fontScale="77295"/>
          </a:bodyPr>
          <a:lstStyle/>
          <a:p>
            <a:pPr algn="l"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Demand takes one of finitely many observed segment profiles.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534400" y="2057400"/>
            <a:ext cx="2667000" cy="609600"/>
          </a:xfrm>
          <a:prstGeom prst="rect">
            <a:avLst/>
          </a:prstGeom>
        </p:spPr>
        <p:txBody>
          <a:bodyPr wrap="square" lIns="0" tIns="0" rIns="0" bIns="0" anchor="t">
            <a:normAutofit fontScale="87906"/>
          </a:bodyPr>
          <a:lstStyle/>
          <a:p>
            <a:pPr algn="l"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Promotions perturb transfers around their mean values.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23900" y="3286125"/>
            <a:ext cx="2800350" cy="7905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600575" y="3286125"/>
            <a:ext cx="2800350" cy="7905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477250" y="3286125"/>
            <a:ext cx="2800350" cy="7905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600575" y="4238625"/>
            <a:ext cx="2800350" cy="8286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657725" y="4324350"/>
            <a:ext cx="2667000" cy="619125"/>
          </a:xfrm>
          <a:prstGeom prst="rect">
            <a:avLst/>
          </a:prstGeom>
        </p:spPr>
        <p:txBody>
          <a:bodyPr wrap="square" lIns="0" tIns="0" rIns="0" bIns="0" anchor="t">
            <a:normAutofit fontScale="94392"/>
          </a:bodyPr>
          <a:lstStyle/>
          <a:p>
            <a:pPr algn="l">
              <a:defRPr sz="150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Use one allocation that preserves slack across every segment.</a:t>
            </a:r>
          </a:p>
        </p:txBody>
      </p:sp>
      <p:pic>
        <p:nvPicPr>
          <p:cNvPr id="77" name="图片 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9226" y="3381375"/>
            <a:ext cx="1709697" cy="571500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481" y="3371850"/>
            <a:ext cx="1218539" cy="581025"/>
          </a:xfrm>
          <a:prstGeom prst="rect">
            <a:avLst/>
          </a:prstGeom>
        </p:spPr>
      </p:pic>
      <p:pic>
        <p:nvPicPr>
          <p:cNvPr id="79" name="图片 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012" y="3381375"/>
            <a:ext cx="1156827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22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09675"/>
            <a:ext cx="2857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PROPOSITION: OPTIMIZED GCG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543050"/>
            <a:ext cx="41910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Δ = {c ≥ 0 : Σᵢcᵢ = 1}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81625" y="1543050"/>
            <a:ext cx="5905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d(I) = components after removing opaque type I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2009775"/>
            <a:ext cx="11125200" cy="1743075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33400" y="2009775"/>
            <a:ext cx="76200" cy="1743075"/>
          </a:xfrm>
          <a:prstGeom prst="rect">
            <a:avLst/>
          </a:prstGeom>
          <a:solidFill>
            <a:srgbClr val="2F6FA3"/>
          </a:solidFill>
          <a:ln w="0">
            <a:solidFill>
              <a:srgbClr val="2F6FA3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4076700"/>
            <a:ext cx="12382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Exactness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33400" y="4362450"/>
            <a:ext cx="7334250" cy="400050"/>
          </a:xfrm>
          <a:prstGeom prst="rect">
            <a:avLst/>
          </a:prstGeom>
        </p:spPr>
        <p:txBody>
          <a:bodyPr wrap="square" lIns="0" tIns="0" rIns="0" bIns="0" anchor="t">
            <a:normAutofit fontScale="94025"/>
          </a:bodyPr>
          <a:lstStyle/>
          <a:p>
            <a:pPr algn="l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two-term ceiling equals η* when the induced graph has at most one cycle.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33400" y="5067300"/>
            <a:ext cx="1428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Allocation rule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33400" y="5353050"/>
            <a:ext cx="7810500" cy="628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If d(I)=|I|, the even allocation is optimal; the circle is verified separately. With multiple cycles, the expression is only a ceiling—solve the cut LP for η*.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24900" y="4076700"/>
            <a:ext cx="2933700" cy="1847850"/>
          </a:xfrm>
          <a:prstGeom prst="rect">
            <a:avLst/>
          </a:prstGeom>
          <a:solidFill>
            <a:srgbClr val="F7EFE1"/>
          </a:solidFill>
          <a:ln w="0">
            <a:solidFill>
              <a:srgbClr val="F7EFE1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972550" y="4295775"/>
            <a:ext cx="14287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Diagnostic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972550" y="4686300"/>
            <a:ext cx="23812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Network term binds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72550" y="4981575"/>
            <a:ext cx="23812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redesign the menu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972550" y="5353050"/>
            <a:ext cx="23812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Retention term binds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972550" y="5648325"/>
            <a:ext cx="238125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moderate conversion / discount</a:t>
            </a: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7856" y="2152650"/>
            <a:ext cx="1956288" cy="476250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584" y="2819400"/>
            <a:ext cx="2816831" cy="666750"/>
          </a:xfrm>
          <a:prstGeom prst="rect">
            <a:avLst/>
          </a:prstGeom>
        </p:spPr>
      </p:pic>
      <p:sp>
        <p:nvSpPr>
          <p:cNvPr id="25" name="矩形 24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Optimized GCG separates retention and connectivity</a:t>
            </a:r>
          </a:p>
        </p:txBody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76250" y="1428750"/>
            <a:ext cx="10858500" cy="466725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33400" y="1543050"/>
            <a:ext cx="4585335" cy="28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Feasible allocations distribute one unit of total stock.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381625" y="1543050"/>
            <a:ext cx="6276340" cy="28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Component count: connected pieces left after removing an opaque type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76250" y="4267200"/>
            <a:ext cx="7867650" cy="6858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33400" y="4362450"/>
            <a:ext cx="763651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two-term ceiling is exact when the induced graph has at most one cycle.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76250" y="5219700"/>
            <a:ext cx="7953375" cy="809625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33400" y="5353050"/>
            <a:ext cx="7810500" cy="628650"/>
          </a:xfrm>
          <a:prstGeom prst="rect">
            <a:avLst/>
          </a:prstGeom>
        </p:spPr>
        <p:txBody>
          <a:bodyPr wrap="square" lIns="0" tIns="0" rIns="0" bIns="0" anchor="t">
            <a:normAutofit fontScale="96602"/>
          </a:bodyPr>
          <a:lstStyle/>
          <a:p>
            <a:pPr algn="l">
              <a:defRPr sz="150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When removing each opaque node creates one component per eligible item, the even allocation is optimal; the circle is verified separately. With multiple cycles, use the cut LP.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23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1714500"/>
            <a:ext cx="4953000" cy="2667000"/>
          </a:xfrm>
          <a:prstGeom prst="rect">
            <a:avLst/>
          </a:prstGeom>
          <a:solidFill>
            <a:srgbClr val="F2F3F2"/>
          </a:solidFill>
          <a:ln w="0">
            <a:solidFill>
              <a:srgbClr val="F2F3F2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19800" y="1714500"/>
            <a:ext cx="5638800" cy="2667000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1905000"/>
            <a:ext cx="2857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TREE / PATH · N−1 PRODUCTS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29350" y="1905000"/>
            <a:ext cx="23812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CIRCLE · N PRODUCTS</a:t>
            </a: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352550" y="3019425"/>
            <a:ext cx="857250" cy="9525"/>
          </a:xfrm>
          <a:prstGeom prst="line">
            <a:avLst/>
          </a:prstGeom>
          <a:noFill/>
          <a:ln w="28575">
            <a:solidFill>
              <a:srgbClr val="CDD2D7"/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2209800" y="3019425"/>
            <a:ext cx="857250" cy="9525"/>
          </a:xfrm>
          <a:prstGeom prst="line">
            <a:avLst/>
          </a:prstGeom>
          <a:noFill/>
          <a:ln w="28575">
            <a:solidFill>
              <a:srgbClr val="CDD2D7"/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3067050" y="3019425"/>
            <a:ext cx="857250" cy="9525"/>
          </a:xfrm>
          <a:prstGeom prst="line">
            <a:avLst/>
          </a:prstGeom>
          <a:noFill/>
          <a:ln w="47625">
            <a:solidFill>
              <a:srgbClr val="B7791F"/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3924300" y="3019425"/>
            <a:ext cx="857250" cy="9525"/>
          </a:xfrm>
          <a:prstGeom prst="line">
            <a:avLst/>
          </a:prstGeom>
          <a:noFill/>
          <a:ln w="28575">
            <a:solidFill>
              <a:srgbClr val="CDD2D7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1190625" y="2857500"/>
            <a:ext cx="323850" cy="323850"/>
          </a:xfrm>
          <a:prstGeom prst="ellipse">
            <a:avLst/>
          </a:prstGeom>
          <a:solidFill>
            <a:srgbClr val="FCFCFA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90625" y="2914650"/>
            <a:ext cx="3238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</a:t>
            </a: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2047875" y="2857500"/>
            <a:ext cx="323850" cy="323850"/>
          </a:xfrm>
          <a:prstGeom prst="ellipse">
            <a:avLst/>
          </a:prstGeom>
          <a:solidFill>
            <a:srgbClr val="FCFCFA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047875" y="2914650"/>
            <a:ext cx="3238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</a:t>
            </a: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2905125" y="2857500"/>
            <a:ext cx="323850" cy="323850"/>
          </a:xfrm>
          <a:prstGeom prst="ellipse">
            <a:avLst/>
          </a:prstGeom>
          <a:solidFill>
            <a:srgbClr val="FCFCFA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905125" y="2914650"/>
            <a:ext cx="3238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3</a:t>
            </a: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3762375" y="2857500"/>
            <a:ext cx="323850" cy="323850"/>
          </a:xfrm>
          <a:prstGeom prst="ellipse">
            <a:avLst/>
          </a:prstGeom>
          <a:solidFill>
            <a:srgbClr val="FCFCFA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762375" y="2914650"/>
            <a:ext cx="3238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4</a:t>
            </a: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4619625" y="2857500"/>
            <a:ext cx="323850" cy="323850"/>
          </a:xfrm>
          <a:prstGeom prst="ellipse">
            <a:avLst/>
          </a:prstGeom>
          <a:solidFill>
            <a:srgbClr val="FCFCFA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619625" y="2914650"/>
            <a:ext cx="3238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5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52500" y="3686175"/>
            <a:ext cx="43815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Every opaque product is a bridge:  d(I)=2</a:t>
            </a: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8839200" y="2286000"/>
            <a:ext cx="706587" cy="513366"/>
          </a:xfrm>
          <a:prstGeom prst="line">
            <a:avLst/>
          </a:prstGeom>
          <a:noFill/>
          <a:ln w="28575">
            <a:solidFill>
              <a:srgbClr val="70A8C7"/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9275895" y="2799366"/>
            <a:ext cx="269892" cy="830643"/>
          </a:xfrm>
          <a:prstGeom prst="lineInv">
            <a:avLst/>
          </a:prstGeom>
          <a:noFill/>
          <a:ln w="28575">
            <a:solidFill>
              <a:srgbClr val="70A8C7"/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8402505" y="3630009"/>
            <a:ext cx="873390" cy="9525"/>
          </a:xfrm>
          <a:prstGeom prst="line">
            <a:avLst/>
          </a:prstGeom>
          <a:noFill/>
          <a:ln w="28575">
            <a:solidFill>
              <a:srgbClr val="70A8C7"/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8132613" y="2799366"/>
            <a:ext cx="269892" cy="830643"/>
          </a:xfrm>
          <a:prstGeom prst="line">
            <a:avLst/>
          </a:prstGeom>
          <a:noFill/>
          <a:ln w="28575">
            <a:solidFill>
              <a:srgbClr val="70A8C7"/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8132613" y="2286000"/>
            <a:ext cx="706587" cy="513366"/>
          </a:xfrm>
          <a:prstGeom prst="lineInv">
            <a:avLst/>
          </a:prstGeom>
          <a:noFill/>
          <a:ln w="47625">
            <a:solidFill>
              <a:srgbClr val="2F6FA3"/>
            </a:solidFill>
            <a:prstDash val="solid"/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8677275" y="2124075"/>
            <a:ext cx="323850" cy="323850"/>
          </a:xfrm>
          <a:prstGeom prst="ellipse">
            <a:avLst/>
          </a:prstGeom>
          <a:solidFill>
            <a:srgbClr val="FCFCFA"/>
          </a:solidFill>
          <a:ln w="19050">
            <a:solidFill>
              <a:srgbClr val="2F6FA3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677275" y="2181225"/>
            <a:ext cx="3238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</a:t>
            </a: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9383862" y="2637441"/>
            <a:ext cx="323850" cy="323850"/>
          </a:xfrm>
          <a:prstGeom prst="ellipse">
            <a:avLst/>
          </a:prstGeom>
          <a:solidFill>
            <a:srgbClr val="FCFCFA"/>
          </a:solidFill>
          <a:ln w="19050">
            <a:solidFill>
              <a:srgbClr val="2F6FA3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383862" y="2694591"/>
            <a:ext cx="3238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</a:t>
            </a: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9113970" y="3468084"/>
            <a:ext cx="323850" cy="323850"/>
          </a:xfrm>
          <a:prstGeom prst="ellipse">
            <a:avLst/>
          </a:prstGeom>
          <a:solidFill>
            <a:srgbClr val="FCFCFA"/>
          </a:solidFill>
          <a:ln w="19050">
            <a:solidFill>
              <a:srgbClr val="2F6FA3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113970" y="3525234"/>
            <a:ext cx="3238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3</a:t>
            </a: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8240580" y="3468084"/>
            <a:ext cx="323850" cy="323850"/>
          </a:xfrm>
          <a:prstGeom prst="ellipse">
            <a:avLst/>
          </a:prstGeom>
          <a:solidFill>
            <a:srgbClr val="FCFCFA"/>
          </a:solidFill>
          <a:ln w="19050">
            <a:solidFill>
              <a:srgbClr val="2F6FA3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240580" y="3525234"/>
            <a:ext cx="3238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4</a:t>
            </a:r>
          </a:p>
        </p:txBody>
      </p:sp>
      <p:sp>
        <p:nvSpPr>
          <p:cNvPr id="36" name="椭圆 35"/>
          <p:cNvSpPr>
            <a:spLocks noGrp="1"/>
          </p:cNvSpPr>
          <p:nvPr/>
        </p:nvSpPr>
        <p:spPr>
          <a:xfrm>
            <a:off x="7970688" y="2637441"/>
            <a:ext cx="323850" cy="323850"/>
          </a:xfrm>
          <a:prstGeom prst="ellipse">
            <a:avLst/>
          </a:prstGeom>
          <a:solidFill>
            <a:srgbClr val="FCFCFA"/>
          </a:solidFill>
          <a:ln w="19050">
            <a:solidFill>
              <a:srgbClr val="2F6FA3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970688" y="2694591"/>
            <a:ext cx="3238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5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267450" y="3895725"/>
            <a:ext cx="5143500" cy="323850"/>
          </a:xfrm>
          <a:prstGeom prst="rect">
            <a:avLst/>
          </a:prstGeom>
        </p:spPr>
        <p:txBody>
          <a:bodyPr wrap="square" lIns="0" tIns="0" rIns="0" bIns="0" anchor="t">
            <a:normAutofit fontScale="87127"/>
          </a:bodyPr>
          <a:lstStyle/>
          <a:p>
            <a:pPr algn="ctr">
              <a:buNone/>
              <a:defRPr sz="150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Removing any one product leaves the network connected:  d(I)=1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33400" y="4667250"/>
            <a:ext cx="2952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ASYMMETRIC-DEMAND IMPLICATION</a:t>
            </a: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33400" y="4991100"/>
            <a:ext cx="11125200" cy="361950"/>
          </a:xfrm>
          <a:prstGeom prst="rect">
            <a:avLst/>
          </a:prstGeom>
        </p:spPr>
        <p:txBody>
          <a:bodyPr wrap="square" lIns="0" tIns="0" rIns="0" bIns="0" anchor="t">
            <a:normAutofit fontScale="83766"/>
          </a:bodyPr>
          <a:lstStyle/>
          <a:p>
            <a:pPr algn="l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When transfer rates are comparable, all circle links have d(I)=1; the binding numerator is the smallest effective opaque-type demand.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33400" y="5438775"/>
            <a:ext cx="7810500" cy="342900"/>
          </a:xfrm>
          <a:prstGeom prst="rect">
            <a:avLst/>
          </a:prstGeom>
        </p:spPr>
        <p:txBody>
          <a:bodyPr wrap="square" lIns="0" tIns="0" rIns="0" bIns="0" anchor="t">
            <a:normAutofit fontScale="83760"/>
          </a:bodyPr>
          <a:lstStyle/>
          <a:p>
            <a:pPr algn="l">
              <a:buNone/>
              <a:defRPr sz="180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Interleave popular and unpopular items to raise the weakest opaque-product demand.</a:t>
            </a: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572500" y="5438775"/>
            <a:ext cx="3086100" cy="400050"/>
          </a:xfrm>
          <a:prstGeom prst="rect">
            <a:avLst/>
          </a:prstGeom>
        </p:spPr>
        <p:txBody>
          <a:bodyPr wrap="square" lIns="0" tIns="0" rIns="0" bIns="0" anchor="t">
            <a:normAutofit fontScale="97222"/>
          </a:bodyPr>
          <a:lstStyle/>
          <a:p>
            <a:pPr algn="r">
              <a:buNone/>
              <a:defRPr sz="135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Design lens—not a global menu-ranking theorem.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Close bridges and strengthen the weakest link</a:t>
            </a:r>
          </a:p>
        </p:txBody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57250" y="3609975"/>
            <a:ext cx="4572000" cy="533400"/>
          </a:xfrm>
          <a:prstGeom prst="rect">
            <a:avLst/>
          </a:prstGeom>
          <a:solidFill>
            <a:srgbClr val="F2F3F2"/>
          </a:solidFill>
          <a:ln w="0">
            <a:solidFill>
              <a:srgbClr val="F2F3F2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81075" y="3695700"/>
            <a:ext cx="4324350" cy="400050"/>
          </a:xfrm>
          <a:prstGeom prst="rect">
            <a:avLst/>
          </a:prstGeom>
        </p:spPr>
        <p:txBody>
          <a:bodyPr wrap="square" lIns="0" tIns="0" rIns="0" bIns="0" anchor="t">
            <a:normAutofit fontScale="87500"/>
          </a:bodyPr>
          <a:lstStyle/>
          <a:p>
            <a:pPr algn="ctr">
              <a:defRPr sz="1500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Every opaque product is a bridge: removal creates two components</a:t>
            </a: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286500" y="3876675"/>
            <a:ext cx="5143500" cy="504825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6410325" y="3962400"/>
            <a:ext cx="4895850" cy="352425"/>
          </a:xfrm>
          <a:prstGeom prst="rect">
            <a:avLst/>
          </a:prstGeom>
        </p:spPr>
        <p:txBody>
          <a:bodyPr wrap="square" lIns="0" tIns="0" rIns="0" bIns="0" anchor="t">
            <a:normAutofit fontScale="98587"/>
          </a:bodyPr>
          <a:lstStyle/>
          <a:p>
            <a:pPr algn="ctr">
              <a:defRPr sz="142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Removing any one product leaves the network connected</a:t>
            </a: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476250" y="4953000"/>
            <a:ext cx="11239500" cy="1057275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533400" y="4991100"/>
            <a:ext cx="11125200" cy="400050"/>
          </a:xfrm>
          <a:prstGeom prst="rect">
            <a:avLst/>
          </a:prstGeom>
        </p:spPr>
        <p:txBody>
          <a:bodyPr wrap="square" lIns="0" tIns="0" rIns="0" bIns="0" anchor="t">
            <a:normAutofit fontScale="80420"/>
          </a:bodyPr>
          <a:lstStyle/>
          <a:p>
            <a:pPr algn="l"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When transfer rates are comparable, every circle link is non-bridging; the binding numerator is the smallest effective opaque-type demand.</a:t>
            </a: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533400" y="5476875"/>
            <a:ext cx="7810500" cy="342900"/>
          </a:xfrm>
          <a:prstGeom prst="rect">
            <a:avLst/>
          </a:prstGeom>
        </p:spPr>
        <p:txBody>
          <a:bodyPr wrap="square" lIns="0" tIns="0" rIns="0" bIns="0" anchor="t">
            <a:normAutofit fontScale="83760"/>
          </a:bodyPr>
          <a:lstStyle/>
          <a:p>
            <a:pPr algn="l">
              <a:defRPr sz="180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Interleave popular and unpopular items to raise the weakest opaque-product demand.</a:t>
            </a: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572500" y="5476875"/>
            <a:ext cx="3086100" cy="400050"/>
          </a:xfrm>
          <a:prstGeom prst="rect">
            <a:avLst/>
          </a:prstGeom>
        </p:spPr>
        <p:txBody>
          <a:bodyPr wrap="square" lIns="0" tIns="0" rIns="0" bIns="0" anchor="t">
            <a:normAutofit fontScale="97222"/>
          </a:bodyPr>
          <a:lstStyle/>
          <a:p>
            <a:pPr algn="r">
              <a:defRPr sz="135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Design lens—not a global menu-ranking theorem.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24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57300"/>
            <a:ext cx="6572250" cy="438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524750" y="1295400"/>
            <a:ext cx="1714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WINNER COUNT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524750" y="1676400"/>
            <a:ext cx="3143250" cy="6953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4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23 / 27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524750" y="2400300"/>
            <a:ext cx="34290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Circle is numerically highest</a:t>
            </a: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7524750" y="3038475"/>
            <a:ext cx="371475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524750" y="3333750"/>
            <a:ext cx="27622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OPTIMIZED DISCOUNT RANGE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524750" y="3752850"/>
            <a:ext cx="15240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Circle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525000" y="3695700"/>
            <a:ext cx="1714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9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2.03–3.45%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524750" y="4257675"/>
            <a:ext cx="1714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Categorical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525000" y="4200525"/>
            <a:ext cx="1714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9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4.26–6.63%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524750" y="4762500"/>
            <a:ext cx="1714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N-opaque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525000" y="4705350"/>
            <a:ext cx="1714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95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6.27–8.63%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524750" y="5219700"/>
            <a:ext cx="37147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350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Exceptions: categorical leads 3 cells; N-opaque leads 1 cell by 0.04 pp.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="876300" y="1733550"/>
          <a:ext cx="5810250" cy="3314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矩形 20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The circle leads reported profit in 23 of 27 cells</a:t>
            </a: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6219825"/>
            <a:ext cx="1076325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825" b="0" i="1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Reported simulation point estimates; no standard errors or confidence intervals are reported.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25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390650"/>
            <a:ext cx="4000500" cy="904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510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18 / 18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2324100"/>
            <a:ext cx="4095750" cy="3524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Logistic calibration comparisons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2962275"/>
            <a:ext cx="4762500" cy="990600"/>
          </a:xfrm>
          <a:prstGeom prst="rect">
            <a:avLst/>
          </a:prstGeom>
        </p:spPr>
        <p:txBody>
          <a:bodyPr wrap="square" lIns="0" tIns="0" rIns="0" bIns="0" anchor="t">
            <a:normAutofit fontScale="92683"/>
          </a:bodyPr>
          <a:lstStyle/>
          <a:p>
            <a:pPr algn="l">
              <a:buNone/>
              <a:defRPr sz="20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Interleaved circle and categorical variants have higher reported profit than their naive counterparts in every tested cell.</a:t>
            </a: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924550" y="1323975"/>
            <a:ext cx="9525" cy="4114800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438900" y="1409700"/>
            <a:ext cx="1428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MAGNITUDE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38900" y="1847850"/>
            <a:ext cx="4476750" cy="590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7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+0.14 to +2.07 pp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38900" y="2971800"/>
            <a:ext cx="2667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WHAT THE EVIDENCE SUPPORTS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438900" y="3371850"/>
            <a:ext cx="46672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Profit improves in all 18 comparisons.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38900" y="4124325"/>
            <a:ext cx="2667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B7791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WHAT IT DOES NOT SUPPORT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38900" y="4514850"/>
            <a:ext cx="4762500" cy="7905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Not every intermediate metric improves; the result is numerical evidence for the design lens, not a theorem.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33400" y="4657725"/>
            <a:ext cx="4762500" cy="800100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4895850"/>
            <a:ext cx="4267200" cy="419100"/>
          </a:xfrm>
          <a:prstGeom prst="rect">
            <a:avLst/>
          </a:prstGeom>
        </p:spPr>
        <p:txBody>
          <a:bodyPr wrap="square" lIns="0" tIns="0" rIns="0" bIns="0" anchor="t">
            <a:normAutofit fontScale="87302"/>
          </a:bodyPr>
          <a:lstStyle/>
          <a:p>
            <a:pPr algn="l">
              <a:buNone/>
              <a:defRPr sz="157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Mechanism predicted by the bound: raise the weakest opaque-type demand while d(I)=1.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Balanced composition leads all 18 Logistic comparisons</a:t>
            </a: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51815" y="4686300"/>
            <a:ext cx="4762500" cy="800100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81050" y="4796790"/>
            <a:ext cx="4267200" cy="419100"/>
          </a:xfrm>
          <a:prstGeom prst="rect">
            <a:avLst/>
          </a:prstGeom>
        </p:spPr>
        <p:txBody>
          <a:bodyPr wrap="square" lIns="0" tIns="0" rIns="0" bIns="0" anchor="t">
            <a:normAutofit fontScale="74740"/>
          </a:bodyPr>
          <a:lstStyle/>
          <a:p>
            <a:pPr algn="ctr">
              <a:defRPr sz="1575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Mechanism predicted by the bound: strengthen the weakest opaque-type demand while every link remains non-bridging.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33400" y="6219825"/>
            <a:ext cx="1076325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825" b="0" i="1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Reported simulation point estimates; no standard errors or confidence intervals are reported.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26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57300"/>
            <a:ext cx="7620000" cy="44386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2D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572500" y="1343025"/>
            <a:ext cx="2095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SAME TOTAL STOCK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72500" y="1752600"/>
            <a:ext cx="2667000" cy="428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3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Only c changes</a:t>
            </a: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8572500" y="2457450"/>
            <a:ext cx="27051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572500" y="2771775"/>
            <a:ext cx="12382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Uniform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0" y="3067050"/>
            <a:ext cx="2705100" cy="3714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2.38% → 10.04%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0" y="3743325"/>
            <a:ext cx="12382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Normal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0" y="4038600"/>
            <a:ext cx="2705100" cy="3714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2.44% → 9.80%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0" y="4714875"/>
            <a:ext cx="12382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Logistic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0" y="5010150"/>
            <a:ext cx="2705100" cy="3714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2.87% → 9.54%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33400" y="5857875"/>
            <a:ext cx="111252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Traditional demand-proportional allocation → design-aware even allocation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="876300" y="1685925"/>
          <a:ext cx="6896100" cy="356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Design-aware stock lifts categorical savings to about 10%</a:t>
            </a: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524875" y="1676400"/>
            <a:ext cx="2857500" cy="600075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572500" y="1752600"/>
            <a:ext cx="2667000" cy="4286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1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Only stock shares change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6219825"/>
            <a:ext cx="1076325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825" b="0" i="1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Reported simulation point estimates; no standard errors or confidence intervals are reported.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27</a:t>
            </a: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428750" y="2924175"/>
            <a:ext cx="9334500" cy="9525"/>
          </a:xfrm>
          <a:prstGeom prst="line">
            <a:avLst/>
          </a:prstGeom>
          <a:noFill/>
          <a:ln w="28575">
            <a:solidFill>
              <a:srgbClr val="CDD2D7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143000" y="2686050"/>
            <a:ext cx="476250" cy="476250"/>
          </a:xfrm>
          <a:prstGeom prst="ellipse">
            <a:avLst/>
          </a:prstGeom>
          <a:solidFill>
            <a:srgbClr val="17191C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2771775"/>
            <a:ext cx="476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771650"/>
            <a:ext cx="13906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ESTIMATE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28625" y="3352800"/>
            <a:ext cx="19050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p and q</a:t>
            </a: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4095750" y="2686050"/>
            <a:ext cx="476250" cy="476250"/>
          </a:xfrm>
          <a:prstGeom prst="ellipse">
            <a:avLst/>
          </a:prstGeom>
          <a:solidFill>
            <a:srgbClr val="2F6FA3"/>
          </a:solidFill>
          <a:ln w="19050">
            <a:solidFill>
              <a:srgbClr val="2F6FA3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095750" y="2771775"/>
            <a:ext cx="476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638550" y="1771650"/>
            <a:ext cx="13906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CONNECT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381375" y="3352800"/>
            <a:ext cx="19050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screen 𝒜</a:t>
            </a: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7048500" y="2686050"/>
            <a:ext cx="476250" cy="476250"/>
          </a:xfrm>
          <a:prstGeom prst="ellipse">
            <a:avLst/>
          </a:prstGeom>
          <a:solidFill>
            <a:srgbClr val="2F6FA3"/>
          </a:solidFill>
          <a:ln w="19050">
            <a:solidFill>
              <a:srgbClr val="2F6FA3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048500" y="2771775"/>
            <a:ext cx="476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3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91300" y="1771650"/>
            <a:ext cx="13906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ALIGN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334125" y="3352800"/>
            <a:ext cx="19050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verify η(c)=Ω(qₘᵢₙ)</a:t>
            </a: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10001250" y="2686050"/>
            <a:ext cx="476250" cy="476250"/>
          </a:xfrm>
          <a:prstGeom prst="ellipse">
            <a:avLst/>
          </a:prstGeom>
          <a:solidFill>
            <a:srgbClr val="17191C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001250" y="2771775"/>
            <a:ext cx="476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4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544050" y="1771650"/>
            <a:ext cx="13906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BALANCE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286875" y="3352800"/>
            <a:ext cx="1905000" cy="333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minimize Xᵢ(t)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33400" y="4238625"/>
            <a:ext cx="11125200" cy="1028700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81050" y="4457700"/>
            <a:ext cx="1428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Main theorem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1050" y="4762500"/>
            <a:ext cx="10287000" cy="409575"/>
          </a:xfrm>
          <a:prstGeom prst="rect">
            <a:avLst/>
          </a:prstGeom>
        </p:spPr>
        <p:txBody>
          <a:bodyPr wrap="square" lIns="0" tIns="0" rIns="0" bIns="0" anchor="t">
            <a:normAutofit fontScale="87384"/>
          </a:bodyPr>
          <a:lstStyle/>
          <a:p>
            <a:pPr algn="ctr">
              <a:buNone/>
              <a:defRPr sz="16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Under the theorem's qₘᵢₙ scaling, quantitative GCG slack plus load balancing achieves the full-flexibility savings order.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5657850"/>
            <a:ext cx="111252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Guardrails: allocation-qualified connectivity · specified time-varying regimes · circle is a sparse benchmark, not a universal optimum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" y="257175"/>
            <a:ext cx="111252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150" b="1" i="0">
                <a:solidFill>
                  <a:srgbClr val="17191C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pPr>
            <a:r>
              <a:t>Positive GCG is the unifying certificate</a:t>
            </a:r>
          </a:p>
        </p:txBody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533400" y="914400"/>
            <a:ext cx="11125200" cy="9525"/>
          </a:xfrm>
          <a:prstGeom prst="line">
            <a:avLst/>
          </a:prstGeom>
          <a:noFill/>
          <a:ln w="9525">
            <a:solidFill>
              <a:srgbClr val="CDD2D7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0" y="990600"/>
            <a:ext cx="12192000" cy="5200650"/>
          </a:xfrm>
          <a:prstGeom prst="rect">
            <a:avLst/>
          </a:prstGeom>
          <a:solidFill>
            <a:srgbClr val="FCFCFA"/>
          </a:solidFill>
          <a:ln w="0">
            <a:solidFill>
              <a:srgbClr val="FCFCFA"/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381125" y="2905125"/>
            <a:ext cx="9429750" cy="9525"/>
          </a:xfrm>
          <a:prstGeom prst="line">
            <a:avLst/>
          </a:prstGeom>
          <a:noFill/>
          <a:ln w="28575">
            <a:solidFill>
              <a:srgbClr val="CDD2D7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1143000" y="2667000"/>
            <a:ext cx="476250" cy="476250"/>
          </a:xfrm>
          <a:prstGeom prst="ellipse">
            <a:avLst/>
          </a:prstGeom>
          <a:solidFill>
            <a:srgbClr val="17191C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143000" y="2752725"/>
            <a:ext cx="476250" cy="304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1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42925" y="1771650"/>
            <a:ext cx="167640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ESTIMATE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28600" y="3352800"/>
            <a:ext cx="2305050" cy="4381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demand profiles</a:t>
            </a: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4095750" y="2667000"/>
            <a:ext cx="476250" cy="476250"/>
          </a:xfrm>
          <a:prstGeom prst="ellipse">
            <a:avLst/>
          </a:prstGeom>
          <a:solidFill>
            <a:srgbClr val="2F6FA3"/>
          </a:solidFill>
          <a:ln w="19050">
            <a:solidFill>
              <a:srgbClr val="2F6FA3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095750" y="2752725"/>
            <a:ext cx="476250" cy="304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2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495675" y="1771650"/>
            <a:ext cx="167640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CONNECT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181350" y="3352800"/>
            <a:ext cx="2305050" cy="4381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screen menus</a:t>
            </a:r>
          </a:p>
        </p:txBody>
      </p:sp>
      <p:sp>
        <p:nvSpPr>
          <p:cNvPr id="38" name="椭圆 37"/>
          <p:cNvSpPr>
            <a:spLocks noGrp="1"/>
          </p:cNvSpPr>
          <p:nvPr/>
        </p:nvSpPr>
        <p:spPr>
          <a:xfrm>
            <a:off x="7048500" y="2667000"/>
            <a:ext cx="476250" cy="476250"/>
          </a:xfrm>
          <a:prstGeom prst="ellipse">
            <a:avLst/>
          </a:prstGeom>
          <a:solidFill>
            <a:srgbClr val="2F6FA3"/>
          </a:solidFill>
          <a:ln w="19050">
            <a:solidFill>
              <a:srgbClr val="2F6FA3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048500" y="2752725"/>
            <a:ext cx="476250" cy="304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3</a:t>
            </a: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448425" y="1771650"/>
            <a:ext cx="167640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ALIGN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134100" y="3352800"/>
            <a:ext cx="2305050" cy="4381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verify worst-period GCG</a:t>
            </a:r>
          </a:p>
        </p:txBody>
      </p:sp>
      <p:sp>
        <p:nvSpPr>
          <p:cNvPr id="42" name="椭圆 41"/>
          <p:cNvSpPr>
            <a:spLocks noGrp="1"/>
          </p:cNvSpPr>
          <p:nvPr/>
        </p:nvSpPr>
        <p:spPr>
          <a:xfrm>
            <a:off x="10001250" y="2667000"/>
            <a:ext cx="476250" cy="476250"/>
          </a:xfrm>
          <a:prstGeom prst="ellipse">
            <a:avLst/>
          </a:prstGeom>
          <a:solidFill>
            <a:srgbClr val="17191C"/>
          </a:solidFill>
          <a:ln w="19050">
            <a:solidFill>
              <a:srgbClr val="17191C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0001250" y="2752725"/>
            <a:ext cx="476250" cy="304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4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401175" y="1771650"/>
            <a:ext cx="167640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BALANCE</a:t>
            </a: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086850" y="3352800"/>
            <a:ext cx="2305050" cy="4381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route by load deviation</a:t>
            </a: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533400" y="4171950"/>
            <a:ext cx="11125200" cy="1190625"/>
          </a:xfrm>
          <a:prstGeom prst="rect">
            <a:avLst/>
          </a:prstGeom>
          <a:solidFill>
            <a:srgbClr val="EAF2F7"/>
          </a:solidFill>
          <a:ln w="0">
            <a:solidFill>
              <a:srgbClr val="EAF2F7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781050" y="4371975"/>
            <a:ext cx="257175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2F6FA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Unified theorem · Theorem 2</a:t>
            </a: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81050" y="5067300"/>
            <a:ext cx="10287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 i="0">
                <a:solidFill>
                  <a:srgbClr val="1719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Quantitative worst-period GCG plus load balancing achieves the full-flexibility savings order.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533400" y="5686425"/>
            <a:ext cx="111252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 i="0">
                <a:solidFill>
                  <a:srgbClr val="5B62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Guardrails: allocation-qualified connectivity  ·  specified time-varying regimes  ·  circle is a sparse benchmark, not a universal optimum</a:t>
            </a:r>
          </a:p>
        </p:txBody>
      </p:sp>
      <p:pic>
        <p:nvPicPr>
          <p:cNvPr id="99" name="图片 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6365" y="4591050"/>
            <a:ext cx="6019271" cy="476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16432</Words>
  <Application>WPS 演示</Application>
  <PresentationFormat>Converted Presentation</PresentationFormat>
  <Paragraphs>954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Arial</vt:lpstr>
      <vt:lpstr>宋体</vt:lpstr>
      <vt:lpstr>Wingdings</vt:lpstr>
      <vt:lpstr>Arial</vt:lpstr>
      <vt:lpstr>Arial Narrow</vt:lpstr>
      <vt:lpstr>微软雅黑</vt:lpstr>
      <vt:lpstr>Arial Unicode MS</vt:lpstr>
      <vt:lpstr>Calibri</vt:lpstr>
      <vt:lpstr>MS PGothic</vt:lpstr>
      <vt:lpstr>BatangChe</vt:lpstr>
      <vt:lpstr>Segoe Print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修</cp:lastModifiedBy>
  <cp:revision>3</cp:revision>
  <dcterms:created xsi:type="dcterms:W3CDTF">2026-07-17T12:40:14Z</dcterms:created>
  <dcterms:modified xsi:type="dcterms:W3CDTF">2026-07-17T12:47:39Z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8294D09E6F344BE490127FF191F7CF4D_12</vt:lpwstr>
  </property>
</Properties>
</file>